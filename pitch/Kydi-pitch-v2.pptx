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5fb091f-624e-c5f7-1dab-8008b2ad86a0}">
          <p14:sldIdLst>
            <p14:sldId id="256"/>
          </p14:sldIdLst>
        </p14:section>
        <p14:section name="Problem" id="{35904ec8-9100-ddc2-4b00-c9d8c096f300}">
          <p14:sldIdLst>
            <p14:sldId id="257"/>
          </p14:sldIdLst>
        </p14:section>
        <p14:section name="Market" id="{bfc06fe8-cd32-5782-eeb9-2b2641164931}">
          <p14:sldIdLst>
            <p14:sldId id="258"/>
          </p14:sldIdLst>
        </p14:section>
        <p14:section name="Competition" id="{060bb8f9-12d3-9917-4e51-e17bbee2d5ff}">
          <p14:sldIdLst>
            <p14:sldId id="259"/>
          </p14:sldIdLst>
        </p14:section>
        <p14:section name="Product" id="{e640433c-0c20-b2c1-570c-1b72ecf86087}">
          <p14:sldIdLst>
            <p14:sldId id="260"/>
          </p14:sldIdLst>
        </p14:section>
        <p14:section name="Execution" id="{dcc93342-31b0-9310-270c-6031198ba64e}">
          <p14:sldIdLst>
            <p14:sldId id="261"/>
          </p14:sldIdLst>
        </p14:section>
        <p14:section name="Why now" id="{d41e34b8-eb87-7ea0-92f1-cc80aeff6e64}">
          <p14:sldIdLst>
            <p14:sldId id="262"/>
          </p14:sldIdLst>
        </p14:section>
        <p14:section name="Close" id="{9e886d74-539a-5624-83b0-82344756832b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1D3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D1D39"/>
                </a:solidFill>
                <a:latin typeface="+mn-lt"/>
              </a:rPr>
              <a:t>US independent workers by commitment, 2025 (millions)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Independent workers (millions)</c:v>
                </c:pt>
              </c:strCache>
            </c:strRef>
          </c:tx>
          <c:spPr>
            <a:solidFill>
              <a:srgbClr val="0D1D3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D1D3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Occasional</c:v>
                  </c:pt>
                  <c:pt idx="1">
                    <c:v>Full-time</c:v>
                  </c:pt>
                  <c:pt idx="2">
                    <c:v>Part-time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37.4</c:v>
                </c:pt>
                <c:pt idx="1">
                  <c:v>27.6</c:v>
                </c:pt>
                <c:pt idx="2">
                  <c:v>7.9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0D1D3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CE7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A64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1D3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D1D39"/>
                </a:solidFill>
                <a:latin typeface="+mn-lt"/>
              </a:rPr>
              <a:t>Entry-level plan, USD per month (list price)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Entry plan, USD per month</c:v>
                </c:pt>
              </c:strCache>
            </c:strRef>
          </c:tx>
          <c:spPr>
            <a:solidFill>
              <a:srgbClr val="A9B4C6"/>
            </a:solidFill>
            <a:effectLst/>
          </c:spPr>
          <c:invertIfNegative val="0"/>
          <c:dLbls>
            <c:numFmt formatCode="&quot;$&quot;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D1D3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4C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4C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4C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B4C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B4C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6BE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QuickBooks Online</c:v>
                  </c:pt>
                  <c:pt idx="1">
                    <c:v>Xero</c:v>
                  </c:pt>
                  <c:pt idx="2">
                    <c:v>FreshBooks</c:v>
                  </c:pt>
                  <c:pt idx="3">
                    <c:v>Wave Pro</c:v>
                  </c:pt>
                  <c:pt idx="4">
                    <c:v>Invoice Ninja Pro</c:v>
                  </c:pt>
                  <c:pt idx="5">
                    <c:v>Kydi, self-hosted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27</c:v>
                </c:pt>
                <c:pt idx="2">
                  <c:v>23</c:v>
                </c:pt>
                <c:pt idx="3">
                  <c:v>19</c:v>
                </c:pt>
                <c:pt idx="4">
                  <c:v>14</c:v>
                </c:pt>
                <c:pt idx="5">
                  <c:v>0</c:v>
                </c:pt>
              </c:numCache>
            </c:numRef>
          </c:val>
        </c:ser>
        <c:dLbls>
          <c:numFmt formatCode="&quot;$&quot;0" sourceLinked="0"/>
          <c:txPr>
            <a:bodyPr/>
            <a:lstStyle/>
            <a:p>
              <a:pPr>
                <a:defRPr b="0" i="0" strike="noStrike" sz="1400" u="none">
                  <a:solidFill>
                    <a:srgbClr val="0D1D3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DCE7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D1D3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Kydi is open-source invoicing for freelancers and small businesses. You run it on your own server or deploy it in one command on Zenith, and you keep your data. That is a real invoice Kydi produced, from a demo company we use in testing. (about 15 seconds)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an invoice is easy. Getting it paid is not. Intuit's 2025 survey found that 56 percent of US small businesses are owed money on unpaid invoices, about seventeen and a half thousand dollars each, and nearly half have invoices more than a month overdue. In the UK the government puts the cost of late payment at eleven billion pounds a year and around fourteen thousand business closures. The tools people use should make chasing and reconciling payments routine. (about 35 seconds)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needs this? In the US alone there are almost 73 million independent workers, 28 million of them full-time, and 36 million small businesses. Every one of them sends invoices. Analysts size invoicing software at somewhere between five and sixteen billion dollars, growing seven to seventeen percent a year. The estimates disagree on scope, but they agree on direction. (about 25 seconds)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the default choice is to rent. QuickBooks starts at 38 dollars a month, Xero at 27, FreshBooks at 23, and prices keep climbing while your records sit in someone else's cloud. Open-source options exist, but the best known uses a licence that stops others from hosting it as a service. Kydi is MIT: free to run, fork, host and resell, with no feature tiers. (about 30 seconds)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Kydi covers the whole loop. Send an estimate, the customer accepts it in their portal, it becomes an invoice in one click or a recurring one that sends itself. Payments are allocated against invoices, overdue ones are flagged automatically, and the dashboard shows exactly what is owed and how late. Purchasing sits alongside: suppliers, bills and expenses, so profit and loss is real. (about 35 seconds)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this over the hackathon: twenty-five thousand lines of strict TypeScript, 145 automated tests, 44 data models and 88 screens. It is not a demo shell. Invoices, recurring billing, payments, purchasing, a customer portal, six PDF templates, multi-currency and a REST API all work today, and one command deploys it on Zenith with its own database and generated secrets. (about 30 seconds)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matters. Germany already requires every business to accept e-invoices, France started this September, and by 2028 every German business must issue them. The EU follows for cross-border sales in 2030. A PDF attached to an email will not be enough. Our next step is standard e-invoice output, Factur-X, ZUGFeRD and UBL, then Peppol delivery, and a listed one-click Zenith app so a sole trader can run their own Kydi without touching a server. (about 35 seconds)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Kydi: invoicing you own. The code is on GitHub under MIT, and you can deploy it on Zenith today. Thank you. (about 10 seconds)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YDI_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YDI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pic>
        <p:nvPicPr>
          <p:cNvPr id="3" name="Image 0" descr="C:\Projects\zenith-hackathon\pitch\kydi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15798" cy="237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50392" y="63367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Kydi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3679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3679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ydi logo" descr="C:\Projects\zenith-hackathon\pitch\kyd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4754880" cy="1932127"/>
          </a:xfrm>
          <a:prstGeom prst="rect">
            <a:avLst/>
          </a:prstGeom>
        </p:spPr>
      </p:pic>
      <p:sp>
        <p:nvSpPr>
          <p:cNvPr id="3" name="Tagline"/>
          <p:cNvSpPr txBox="1"/>
          <p:nvPr/>
        </p:nvSpPr>
        <p:spPr>
          <a:xfrm>
            <a:off x="868680" y="37033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Open-source invoicing for freelancers and small businesses</a:t>
            </a:r>
            <a:endParaRPr lang="en-US" sz="2600" dirty="0"/>
          </a:p>
        </p:txBody>
      </p:sp>
      <p:sp>
        <p:nvSpPr>
          <p:cNvPr id="4" name="Subline"/>
          <p:cNvSpPr txBox="1"/>
          <p:nvPr/>
        </p:nvSpPr>
        <p:spPr>
          <a:xfrm>
            <a:off x="868680" y="4709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Self-hosted, MIT-licensed, one-command deploy on Zenith.</a:t>
            </a:r>
            <a:endParaRPr lang="en-US" sz="1600" dirty="0"/>
          </a:p>
        </p:txBody>
      </p:sp>
      <p:sp>
        <p:nvSpPr>
          <p:cNvPr id="5" name="Event"/>
          <p:cNvSpPr txBox="1"/>
          <p:nvPr/>
        </p:nvSpPr>
        <p:spPr>
          <a:xfrm>
            <a:off x="86868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Zenith Hackathon  ·  October 2026</a:t>
            </a:r>
            <a:endParaRPr lang="en-US" sz="1200" dirty="0"/>
          </a:p>
        </p:txBody>
      </p:sp>
      <p:sp>
        <p:nvSpPr>
          <p:cNvPr id="6" name="Invoice card"/>
          <p:cNvSpPr/>
          <p:nvPr/>
        </p:nvSpPr>
        <p:spPr>
          <a:xfrm>
            <a:off x="7086600" y="960120"/>
            <a:ext cx="4526280" cy="409651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  <a:effectLst>
            <a:outerShdw sx="100000" sy="100000" kx="0" ky="0" algn="bl" rotWithShape="0" blurRad="152400" dist="38100" dir="5400000">
              <a:srgbClr val="0D1D39">
                <a:alpha val="12000"/>
              </a:srgbClr>
            </a:outerShdw>
          </a:effectLst>
        </p:spPr>
      </p:sp>
      <p:pic>
        <p:nvPicPr>
          <p:cNvPr id="7" name="Invoice rendered by Kydi" descr="C:\Projects\zenith-hackathon\pitch\invoice-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051560"/>
            <a:ext cx="4343400" cy="3913632"/>
          </a:xfrm>
          <a:prstGeom prst="rect">
            <a:avLst/>
          </a:prstGeom>
        </p:spPr>
      </p:pic>
      <p:sp>
        <p:nvSpPr>
          <p:cNvPr id="8" name="Invoice caption"/>
          <p:cNvSpPr txBox="1"/>
          <p:nvPr/>
        </p:nvSpPr>
        <p:spPr>
          <a:xfrm>
            <a:off x="7086600" y="52120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Invoice PDF generated by Kydi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Getting paid is the hardest part of the job</a:t>
            </a:r>
            <a:endParaRPr lang="en-US" sz="3600" dirty="0"/>
          </a:p>
        </p:txBody>
      </p:sp>
      <p:sp>
        <p:nvSpPr>
          <p:cNvPr id="3" name="Owed value"/>
          <p:cNvSpPr txBox="1"/>
          <p:nvPr/>
        </p:nvSpPr>
        <p:spPr>
          <a:xfrm>
            <a:off x="548640" y="1417320"/>
            <a:ext cx="3429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56%</a:t>
            </a:r>
            <a:endParaRPr lang="en-US" sz="6000" dirty="0"/>
          </a:p>
        </p:txBody>
      </p:sp>
      <p:sp>
        <p:nvSpPr>
          <p:cNvPr id="4" name="Owed caption"/>
          <p:cNvSpPr txBox="1"/>
          <p:nvPr/>
        </p:nvSpPr>
        <p:spPr>
          <a:xfrm>
            <a:off x="548640" y="238963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of US small businesses are owed money on unpaid invoices</a:t>
            </a:r>
            <a:endParaRPr lang="en-US" sz="1600" dirty="0"/>
          </a:p>
        </p:txBody>
      </p:sp>
      <p:sp>
        <p:nvSpPr>
          <p:cNvPr id="5" name="Amount value"/>
          <p:cNvSpPr txBox="1"/>
          <p:nvPr/>
        </p:nvSpPr>
        <p:spPr>
          <a:xfrm>
            <a:off x="4381348" y="1417320"/>
            <a:ext cx="3429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$17,500</a:t>
            </a:r>
            <a:endParaRPr lang="en-US" sz="6000" dirty="0"/>
          </a:p>
        </p:txBody>
      </p:sp>
      <p:sp>
        <p:nvSpPr>
          <p:cNvPr id="6" name="Amount caption"/>
          <p:cNvSpPr txBox="1"/>
          <p:nvPr/>
        </p:nvSpPr>
        <p:spPr>
          <a:xfrm>
            <a:off x="4381348" y="238963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owed, on average, to each of those businesses</a:t>
            </a:r>
            <a:endParaRPr lang="en-US" sz="1600" dirty="0"/>
          </a:p>
        </p:txBody>
      </p:sp>
      <p:sp>
        <p:nvSpPr>
          <p:cNvPr id="7" name="Overdue value"/>
          <p:cNvSpPr txBox="1"/>
          <p:nvPr/>
        </p:nvSpPr>
        <p:spPr>
          <a:xfrm>
            <a:off x="8214055" y="1417320"/>
            <a:ext cx="3429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47%</a:t>
            </a:r>
            <a:endParaRPr lang="en-US" sz="6000" dirty="0"/>
          </a:p>
        </p:txBody>
      </p:sp>
      <p:sp>
        <p:nvSpPr>
          <p:cNvPr id="8" name="Overdue caption"/>
          <p:cNvSpPr txBox="1"/>
          <p:nvPr/>
        </p:nvSpPr>
        <p:spPr>
          <a:xfrm>
            <a:off x="8214055" y="238963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have invoices more than 30 days overdue</a:t>
            </a:r>
            <a:endParaRPr lang="en-US" sz="1600" dirty="0"/>
          </a:p>
        </p:txBody>
      </p:sp>
      <p:sp>
        <p:nvSpPr>
          <p:cNvPr id="9" name="UK panel"/>
          <p:cNvSpPr/>
          <p:nvPr/>
        </p:nvSpPr>
        <p:spPr>
          <a:xfrm>
            <a:off x="548640" y="3520440"/>
            <a:ext cx="11094415" cy="1691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UK label"/>
          <p:cNvSpPr txBox="1"/>
          <p:nvPr/>
        </p:nvSpPr>
        <p:spPr>
          <a:xfrm>
            <a:off x="868680" y="3520440"/>
            <a:ext cx="2651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United Kingdom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Government-commissioned estimate</a:t>
            </a:r>
            <a:endParaRPr lang="en-US" sz="1600" dirty="0"/>
          </a:p>
        </p:txBody>
      </p:sp>
      <p:sp>
        <p:nvSpPr>
          <p:cNvPr id="11" name="UK cost value"/>
          <p:cNvSpPr txBox="1"/>
          <p:nvPr/>
        </p:nvSpPr>
        <p:spPr>
          <a:xfrm>
            <a:off x="3520440" y="3794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£11bn a year</a:t>
            </a:r>
            <a:endParaRPr lang="en-US" sz="4000" dirty="0"/>
          </a:p>
        </p:txBody>
      </p:sp>
      <p:sp>
        <p:nvSpPr>
          <p:cNvPr id="12" name="UK cost caption"/>
          <p:cNvSpPr txBox="1"/>
          <p:nvPr/>
        </p:nvSpPr>
        <p:spPr>
          <a:xfrm>
            <a:off x="352044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lost to late payment across the economy</a:t>
            </a:r>
            <a:endParaRPr lang="en-US" sz="1600" dirty="0"/>
          </a:p>
        </p:txBody>
      </p:sp>
      <p:sp>
        <p:nvSpPr>
          <p:cNvPr id="13" name="UK closures value"/>
          <p:cNvSpPr txBox="1"/>
          <p:nvPr/>
        </p:nvSpPr>
        <p:spPr>
          <a:xfrm>
            <a:off x="7498080" y="3794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14,000</a:t>
            </a:r>
            <a:endParaRPr lang="en-US" sz="4000" dirty="0"/>
          </a:p>
        </p:txBody>
      </p:sp>
      <p:sp>
        <p:nvSpPr>
          <p:cNvPr id="14" name="UK closures caption"/>
          <p:cNvSpPr txBox="1"/>
          <p:nvPr/>
        </p:nvSpPr>
        <p:spPr>
          <a:xfrm>
            <a:off x="749808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businesses close each year because of it</a:t>
            </a:r>
            <a:endParaRPr lang="en-US" sz="1600" dirty="0"/>
          </a:p>
        </p:txBody>
      </p:sp>
      <p:sp>
        <p:nvSpPr>
          <p:cNvPr id="15" name="Sources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Sources: Intuit QuickBooks, Small Business Late Payments Report 2025 (US survey, n = 2,487). London Economics for the UK Government, July 2025.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3679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Tens of millions of people need to send invoices</a:t>
            </a:r>
            <a:endParaRPr lang="en-US" sz="3600" dirty="0"/>
          </a:p>
        </p:txBody>
      </p:sp>
      <p:sp>
        <p:nvSpPr>
          <p:cNvPr id="3" name="Independents value"/>
          <p:cNvSpPr txBox="1"/>
          <p:nvPr/>
        </p:nvSpPr>
        <p:spPr>
          <a:xfrm>
            <a:off x="548640" y="1371600"/>
            <a:ext cx="42062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72.9M</a:t>
            </a:r>
            <a:endParaRPr lang="en-US" sz="6000" dirty="0"/>
          </a:p>
        </p:txBody>
      </p:sp>
      <p:sp>
        <p:nvSpPr>
          <p:cNvPr id="4" name="Independents caption"/>
          <p:cNvSpPr txBox="1"/>
          <p:nvPr/>
        </p:nvSpPr>
        <p:spPr>
          <a:xfrm>
            <a:off x="548640" y="23439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independent workers in the US in 2025</a:t>
            </a:r>
            <a:endParaRPr lang="en-US" sz="1600" dirty="0"/>
          </a:p>
        </p:txBody>
      </p:sp>
      <p:sp>
        <p:nvSpPr>
          <p:cNvPr id="5" name="SMBs value"/>
          <p:cNvSpPr txBox="1"/>
          <p:nvPr/>
        </p:nvSpPr>
        <p:spPr>
          <a:xfrm>
            <a:off x="548640" y="2880360"/>
            <a:ext cx="42062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36.2M</a:t>
            </a:r>
            <a:endParaRPr lang="en-US" sz="6000" dirty="0"/>
          </a:p>
        </p:txBody>
      </p:sp>
      <p:sp>
        <p:nvSpPr>
          <p:cNvPr id="6" name="SMBs caption"/>
          <p:cNvSpPr txBox="1"/>
          <p:nvPr/>
        </p:nvSpPr>
        <p:spPr>
          <a:xfrm>
            <a:off x="548640" y="3852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small businesses in the US, 99.9% of all firms</a:t>
            </a:r>
            <a:endParaRPr lang="en-US" sz="1600" dirty="0"/>
          </a:p>
        </p:txBody>
      </p:sp>
      <p:sp>
        <p:nvSpPr>
          <p:cNvPr id="7" name="Market size note"/>
          <p:cNvSpPr txBox="1"/>
          <p:nvPr/>
        </p:nvSpPr>
        <p:spPr>
          <a:xfrm>
            <a:off x="548640" y="4434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Invoicing software is a $4.8bn–$15.9bn market growing 7–17% a year. Analyst estimates vary with how the market is scoped.</a:t>
            </a:r>
            <a:endParaRPr lang="en-US" sz="1400" dirty="0"/>
          </a:p>
        </p:txBody>
      </p:sp>
      <p:graphicFrame>
        <p:nvGraphicFramePr>
          <p:cNvPr id="8" name="Independent workers chart" descr=""/>
          <p:cNvGraphicFramePr/>
          <p:nvPr/>
        </p:nvGraphicFramePr>
        <p:xfrm>
          <a:off x="5257800" y="1325880"/>
          <a:ext cx="6382512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ources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Sources: MBO Partners, State of Independence 2025. SBA Office of Advocacy, Small Business FAQ 2026. Market size: Straits Research (2025), Market Research Future (2025), Stratistics MRC (2025).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3679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Incumbents charge rent on your own books</a:t>
            </a:r>
            <a:endParaRPr lang="en-US" sz="3600" dirty="0"/>
          </a:p>
        </p:txBody>
      </p:sp>
      <p:graphicFrame>
        <p:nvGraphicFramePr>
          <p:cNvPr id="3" name="Entry price chart" descr=""/>
          <p:cNvGraphicFramePr/>
          <p:nvPr/>
        </p:nvGraphicFramePr>
        <p:xfrm>
          <a:off x="548640" y="1325880"/>
          <a:ext cx="57607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Licence 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371600"/>
          <a:ext cx="49194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73352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Product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Licence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Your data lives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QuickBooks Online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Proprietary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Intuit's cloud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Xero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Proprietary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Xero's cloud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FreshBooks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Proprietary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FreshBooks' cloud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Invoice Ninja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Elastic License 2.0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Yours or theirs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Kydi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MIT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Your server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ier note"/>
          <p:cNvSpPr txBox="1"/>
          <p:nvPr/>
        </p:nvSpPr>
        <p:spPr>
          <a:xfrm>
            <a:off x="6720840" y="4800600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Wave and Invoice Ninja also offer limited free tiers. Kydi has no tiers: every feature, unlimited invoices.</a:t>
            </a:r>
            <a:endParaRPr lang="en-US" sz="1400" dirty="0"/>
          </a:p>
        </p:txBody>
      </p:sp>
      <p:sp>
        <p:nvSpPr>
          <p:cNvPr id="6" name="Sources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Sources: vendor pricing pages (US, before promotional discounts), retrieved October 2026: QuickBooks Simple Start, Xero Early, FreshBooks Lite, Wave Pro, Invoice Ninja Pro.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3679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One app for the whole billing loop</a:t>
            </a:r>
            <a:endParaRPr lang="en-US" sz="3600" dirty="0"/>
          </a:p>
        </p:txBody>
      </p:sp>
      <p:sp>
        <p:nvSpPr>
          <p:cNvPr id="3" name="Step 1 number"/>
          <p:cNvSpPr txBox="1"/>
          <p:nvPr/>
        </p:nvSpPr>
        <p:spPr>
          <a:xfrm>
            <a:off x="548640" y="1371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4" name="Step 1"/>
          <p:cNvSpPr txBox="1"/>
          <p:nvPr/>
        </p:nvSpPr>
        <p:spPr>
          <a:xfrm>
            <a:off x="1097280" y="137160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Quote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Estimates that customers accept or reject in their own portal</a:t>
            </a:r>
            <a:endParaRPr lang="en-US" sz="1800" dirty="0"/>
          </a:p>
        </p:txBody>
      </p:sp>
      <p:sp>
        <p:nvSpPr>
          <p:cNvPr id="5" name="Step 2 number"/>
          <p:cNvSpPr txBox="1"/>
          <p:nvPr/>
        </p:nvSpPr>
        <p:spPr>
          <a:xfrm>
            <a:off x="548640" y="22219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6" name="Step 2"/>
          <p:cNvSpPr txBox="1"/>
          <p:nvPr/>
        </p:nvSpPr>
        <p:spPr>
          <a:xfrm>
            <a:off x="1097280" y="222199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Invoice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Convert in one click, or put it on a recurring schedule</a:t>
            </a:r>
            <a:endParaRPr lang="en-US" sz="1800" dirty="0"/>
          </a:p>
        </p:txBody>
      </p:sp>
      <p:sp>
        <p:nvSpPr>
          <p:cNvPr id="7" name="Step 3 number"/>
          <p:cNvSpPr txBox="1"/>
          <p:nvPr/>
        </p:nvSpPr>
        <p:spPr>
          <a:xfrm>
            <a:off x="548640" y="30723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8" name="Step 3"/>
          <p:cNvSpPr txBox="1"/>
          <p:nvPr/>
        </p:nvSpPr>
        <p:spPr>
          <a:xfrm>
            <a:off x="1097280" y="307238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Deliver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Email with the PDF attached and see when it was viewed</a:t>
            </a:r>
            <a:endParaRPr lang="en-US" sz="1800" dirty="0"/>
          </a:p>
        </p:txBody>
      </p:sp>
      <p:sp>
        <p:nvSpPr>
          <p:cNvPr id="9" name="Step 4 number"/>
          <p:cNvSpPr txBox="1"/>
          <p:nvPr/>
        </p:nvSpPr>
        <p:spPr>
          <a:xfrm>
            <a:off x="548640" y="392277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04</a:t>
            </a:r>
            <a:endParaRPr lang="en-US" sz="1800" dirty="0"/>
          </a:p>
        </p:txBody>
      </p:sp>
      <p:sp>
        <p:nvSpPr>
          <p:cNvPr id="10" name="Step 4"/>
          <p:cNvSpPr txBox="1"/>
          <p:nvPr/>
        </p:nvSpPr>
        <p:spPr>
          <a:xfrm>
            <a:off x="1097280" y="3922776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Get paid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Allocate payments across invoices; overdue is flagged for you</a:t>
            </a:r>
            <a:endParaRPr lang="en-US" sz="1800" dirty="0"/>
          </a:p>
        </p:txBody>
      </p:sp>
      <p:sp>
        <p:nvSpPr>
          <p:cNvPr id="11" name="Step 5 number"/>
          <p:cNvSpPr txBox="1"/>
          <p:nvPr/>
        </p:nvSpPr>
        <p:spPr>
          <a:xfrm>
            <a:off x="548640" y="47731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05</a:t>
            </a:r>
            <a:endParaRPr lang="en-US" sz="1800" dirty="0"/>
          </a:p>
        </p:txBody>
      </p:sp>
      <p:sp>
        <p:nvSpPr>
          <p:cNvPr id="12" name="Step 5"/>
          <p:cNvSpPr txBox="1"/>
          <p:nvPr/>
        </p:nvSpPr>
        <p:spPr>
          <a:xfrm>
            <a:off x="1097280" y="477316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Report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Cash flow, profit and loss, tax summary, bills and suppliers</a:t>
            </a:r>
            <a:endParaRPr lang="en-US" sz="1800" dirty="0"/>
          </a:p>
        </p:txBody>
      </p:sp>
      <p:sp>
        <p:nvSpPr>
          <p:cNvPr id="13" name="Dashboard frame"/>
          <p:cNvSpPr/>
          <p:nvPr/>
        </p:nvSpPr>
        <p:spPr>
          <a:xfrm>
            <a:off x="4556455" y="1371600"/>
            <a:ext cx="7086600" cy="4232275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  <a:effectLst>
            <a:outerShdw sx="100000" sy="100000" kx="0" ky="0" algn="bl" rotWithShape="0" blurRad="152400" dist="38100" dir="5400000">
              <a:srgbClr val="0D1D39">
                <a:alpha val="12000"/>
              </a:srgbClr>
            </a:outerShdw>
          </a:effectLst>
        </p:spPr>
      </p:sp>
      <p:pic>
        <p:nvPicPr>
          <p:cNvPr id="14" name="Kydi dashboard" descr="C:\Projects\zenith-hackathon\pitch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6455" y="1371600"/>
            <a:ext cx="7086600" cy="4232275"/>
          </a:xfrm>
          <a:prstGeom prst="rect">
            <a:avLst/>
          </a:prstGeom>
        </p:spPr>
      </p:pic>
      <p:sp>
        <p:nvSpPr>
          <p:cNvPr id="15" name="Sources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Kydi dashboard, demo company. Receivables split by overdue, due soon and later; cash flow by month.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3679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Built in two days, ready to run today</a:t>
            </a:r>
            <a:endParaRPr lang="en-US" sz="3600" dirty="0"/>
          </a:p>
        </p:txBody>
      </p:sp>
      <p:sp>
        <p:nvSpPr>
          <p:cNvPr id="3" name="lines of strict TypeScript value"/>
          <p:cNvSpPr txBox="1"/>
          <p:nvPr/>
        </p:nvSpPr>
        <p:spPr>
          <a:xfrm>
            <a:off x="548640" y="1417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25,000</a:t>
            </a:r>
            <a:endParaRPr lang="en-US" sz="5400" dirty="0"/>
          </a:p>
        </p:txBody>
      </p:sp>
      <p:sp>
        <p:nvSpPr>
          <p:cNvPr id="4" name="lines of strict TypeScript caption"/>
          <p:cNvSpPr txBox="1"/>
          <p:nvPr/>
        </p:nvSpPr>
        <p:spPr>
          <a:xfrm>
            <a:off x="548640" y="23134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lines of strict TypeScript</a:t>
            </a:r>
            <a:endParaRPr lang="en-US" sz="1600" dirty="0"/>
          </a:p>
        </p:txBody>
      </p:sp>
      <p:sp>
        <p:nvSpPr>
          <p:cNvPr id="5" name="automated tests value"/>
          <p:cNvSpPr txBox="1"/>
          <p:nvPr/>
        </p:nvSpPr>
        <p:spPr>
          <a:xfrm>
            <a:off x="3246120" y="1417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145</a:t>
            </a:r>
            <a:endParaRPr lang="en-US" sz="5400" dirty="0"/>
          </a:p>
        </p:txBody>
      </p:sp>
      <p:sp>
        <p:nvSpPr>
          <p:cNvPr id="6" name="automated tests caption"/>
          <p:cNvSpPr txBox="1"/>
          <p:nvPr/>
        </p:nvSpPr>
        <p:spPr>
          <a:xfrm>
            <a:off x="3246120" y="23134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automated tests</a:t>
            </a:r>
            <a:endParaRPr lang="en-US" sz="1600" dirty="0"/>
          </a:p>
        </p:txBody>
      </p:sp>
      <p:sp>
        <p:nvSpPr>
          <p:cNvPr id="7" name="data models value"/>
          <p:cNvSpPr txBox="1"/>
          <p:nvPr/>
        </p:nvSpPr>
        <p:spPr>
          <a:xfrm>
            <a:off x="548640" y="3566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44</a:t>
            </a:r>
            <a:endParaRPr lang="en-US" sz="5400" dirty="0"/>
          </a:p>
        </p:txBody>
      </p:sp>
      <p:sp>
        <p:nvSpPr>
          <p:cNvPr id="8" name="data models caption"/>
          <p:cNvSpPr txBox="1"/>
          <p:nvPr/>
        </p:nvSpPr>
        <p:spPr>
          <a:xfrm>
            <a:off x="548640" y="44622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data models</a:t>
            </a:r>
            <a:endParaRPr lang="en-US" sz="1600" dirty="0"/>
          </a:p>
        </p:txBody>
      </p:sp>
      <p:sp>
        <p:nvSpPr>
          <p:cNvPr id="9" name="screens value"/>
          <p:cNvSpPr txBox="1"/>
          <p:nvPr/>
        </p:nvSpPr>
        <p:spPr>
          <a:xfrm>
            <a:off x="3246120" y="3566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88</a:t>
            </a:r>
            <a:endParaRPr lang="en-US" sz="5400" dirty="0"/>
          </a:p>
        </p:txBody>
      </p:sp>
      <p:sp>
        <p:nvSpPr>
          <p:cNvPr id="10" name="screens caption"/>
          <p:cNvSpPr txBox="1"/>
          <p:nvPr/>
        </p:nvSpPr>
        <p:spPr>
          <a:xfrm>
            <a:off x="3246120" y="44622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screens</a:t>
            </a:r>
            <a:endParaRPr lang="en-US" sz="1600" dirty="0"/>
          </a:p>
        </p:txBody>
      </p:sp>
      <p:sp>
        <p:nvSpPr>
          <p:cNvPr id="11" name="Feature panel"/>
          <p:cNvSpPr/>
          <p:nvPr/>
        </p:nvSpPr>
        <p:spPr>
          <a:xfrm>
            <a:off x="5715000" y="1371600"/>
            <a:ext cx="5928055" cy="4206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Feature heading"/>
          <p:cNvSpPr txBox="1"/>
          <p:nvPr/>
        </p:nvSpPr>
        <p:spPr>
          <a:xfrm>
            <a:off x="6035040" y="1600200"/>
            <a:ext cx="5287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Ships today</a:t>
            </a:r>
            <a:endParaRPr lang="en-US" sz="1800" dirty="0"/>
          </a:p>
        </p:txBody>
      </p:sp>
      <p:sp>
        <p:nvSpPr>
          <p:cNvPr id="13" name="Features left"/>
          <p:cNvSpPr txBox="1"/>
          <p:nvPr/>
        </p:nvSpPr>
        <p:spPr>
          <a:xfrm>
            <a:off x="6035040" y="2103120"/>
            <a:ext cx="25525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Invoices, estimates, credits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Recurring invoices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Payments and receipts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Expenses and receipts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Suppliers and bills</a:t>
            </a:r>
            <a:endParaRPr lang="en-US" sz="1400" dirty="0"/>
          </a:p>
        </p:txBody>
      </p:sp>
      <p:sp>
        <p:nvSpPr>
          <p:cNvPr id="14" name="Features right"/>
          <p:cNvSpPr txBox="1"/>
          <p:nvPr/>
        </p:nvSpPr>
        <p:spPr>
          <a:xfrm>
            <a:off x="8770468" y="2103120"/>
            <a:ext cx="25525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Customer portal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Six PDF templates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Multi-currency, live rates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Teams, roles, many companies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REST API</a:t>
            </a:r>
            <a:endParaRPr lang="en-US" sz="1400" dirty="0"/>
          </a:p>
        </p:txBody>
      </p:sp>
      <p:sp>
        <p:nvSpPr>
          <p:cNvPr id="15" name="Stack"/>
          <p:cNvSpPr txBox="1"/>
          <p:nvPr/>
        </p:nvSpPr>
        <p:spPr>
          <a:xfrm>
            <a:off x="6035040" y="4526280"/>
            <a:ext cx="5287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Next.js 15 · PostgreSQL 16 · Docker. One command deploys it on Zenith Hosting, with a database, storage and secrets generated per install.</a:t>
            </a:r>
            <a:endParaRPr lang="en-US" sz="1400" dirty="0"/>
          </a:p>
        </p:txBody>
      </p:sp>
      <p:sp>
        <p:nvSpPr>
          <p:cNvPr id="16" name="Sources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Figures from the Kydi repository on 17 October 2026: first commit 16 October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3679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Regulation is making structured invoices mandatory</a:t>
            </a:r>
            <a:endParaRPr lang="en-US" sz="3600" dirty="0"/>
          </a:p>
        </p:txBody>
      </p:sp>
      <p:sp>
        <p:nvSpPr>
          <p:cNvPr id="3" name="Timeline axis"/>
          <p:cNvSpPr/>
          <p:nvPr/>
        </p:nvSpPr>
        <p:spPr>
          <a:xfrm>
            <a:off x="640080" y="2514600"/>
            <a:ext cx="10911535" cy="0"/>
          </a:xfrm>
          <a:prstGeom prst="line">
            <a:avLst/>
          </a:prstGeom>
          <a:noFill/>
          <a:ln w="19050">
            <a:solidFill>
              <a:srgbClr val="A9B4C6"/>
            </a:solidFill>
            <a:prstDash val="solid"/>
          </a:ln>
        </p:spPr>
      </p:sp>
      <p:sp>
        <p:nvSpPr>
          <p:cNvPr id="4" name="Jan 2025 date"/>
          <p:cNvSpPr txBox="1"/>
          <p:nvPr/>
        </p:nvSpPr>
        <p:spPr>
          <a:xfrm>
            <a:off x="640080" y="1737360"/>
            <a:ext cx="16357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Jan 2025</a:t>
            </a:r>
            <a:endParaRPr lang="en-US" sz="1800" dirty="0"/>
          </a:p>
        </p:txBody>
      </p:sp>
      <p:sp>
        <p:nvSpPr>
          <p:cNvPr id="5" name="Jan 2025 marker"/>
          <p:cNvSpPr/>
          <p:nvPr/>
        </p:nvSpPr>
        <p:spPr>
          <a:xfrm>
            <a:off x="640080" y="2423160"/>
            <a:ext cx="182880" cy="182880"/>
          </a:xfrm>
          <a:prstGeom prst="ellipse">
            <a:avLst/>
          </a:prstGeom>
          <a:solidFill>
            <a:schemeClr val="tx1"/>
          </a:solidFill>
          <a:ln w="22225">
            <a:solidFill>
              <a:srgbClr val="0D1D39"/>
            </a:solidFill>
            <a:prstDash val="solid"/>
          </a:ln>
        </p:spPr>
      </p:sp>
      <p:sp>
        <p:nvSpPr>
          <p:cNvPr id="6" name="Jan 2025 event"/>
          <p:cNvSpPr txBox="1"/>
          <p:nvPr/>
        </p:nvSpPr>
        <p:spPr>
          <a:xfrm>
            <a:off x="640080" y="2788920"/>
            <a:ext cx="158998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Germany: every business must accept e-invoices</a:t>
            </a:r>
            <a:endParaRPr lang="en-US" sz="1400" dirty="0"/>
          </a:p>
        </p:txBody>
      </p:sp>
      <p:sp>
        <p:nvSpPr>
          <p:cNvPr id="7" name="Sep 2026 date"/>
          <p:cNvSpPr txBox="1"/>
          <p:nvPr/>
        </p:nvSpPr>
        <p:spPr>
          <a:xfrm>
            <a:off x="2458669" y="1737360"/>
            <a:ext cx="16357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Sep 2026</a:t>
            </a:r>
            <a:endParaRPr lang="en-US" sz="1800" dirty="0"/>
          </a:p>
        </p:txBody>
      </p:sp>
      <p:sp>
        <p:nvSpPr>
          <p:cNvPr id="8" name="Sep 2026 marker"/>
          <p:cNvSpPr/>
          <p:nvPr/>
        </p:nvSpPr>
        <p:spPr>
          <a:xfrm>
            <a:off x="2458669" y="2423160"/>
            <a:ext cx="182880" cy="182880"/>
          </a:xfrm>
          <a:prstGeom prst="ellipse">
            <a:avLst/>
          </a:prstGeom>
          <a:solidFill>
            <a:schemeClr val="tx1"/>
          </a:solidFill>
          <a:ln w="22225">
            <a:solidFill>
              <a:srgbClr val="0D1D39"/>
            </a:solidFill>
            <a:prstDash val="solid"/>
          </a:ln>
        </p:spPr>
      </p:sp>
      <p:sp>
        <p:nvSpPr>
          <p:cNvPr id="9" name="Sep 2026 event"/>
          <p:cNvSpPr txBox="1"/>
          <p:nvPr/>
        </p:nvSpPr>
        <p:spPr>
          <a:xfrm>
            <a:off x="2458669" y="2788920"/>
            <a:ext cx="158998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France: all firms receive; large and mid-size firms issue</a:t>
            </a:r>
            <a:endParaRPr lang="en-US" sz="1400" dirty="0"/>
          </a:p>
        </p:txBody>
      </p:sp>
      <p:sp>
        <p:nvSpPr>
          <p:cNvPr id="10" name="Jan 2027 date"/>
          <p:cNvSpPr txBox="1"/>
          <p:nvPr/>
        </p:nvSpPr>
        <p:spPr>
          <a:xfrm>
            <a:off x="4277258" y="1737360"/>
            <a:ext cx="16357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Jan 2027</a:t>
            </a:r>
            <a:endParaRPr lang="en-US" sz="1800" dirty="0"/>
          </a:p>
        </p:txBody>
      </p:sp>
      <p:sp>
        <p:nvSpPr>
          <p:cNvPr id="11" name="Jan 2027 marker"/>
          <p:cNvSpPr/>
          <p:nvPr/>
        </p:nvSpPr>
        <p:spPr>
          <a:xfrm>
            <a:off x="4277258" y="2423160"/>
            <a:ext cx="182880" cy="182880"/>
          </a:xfrm>
          <a:prstGeom prst="ellipse">
            <a:avLst/>
          </a:prstGeom>
          <a:solidFill>
            <a:schemeClr val="bg1"/>
          </a:solidFill>
          <a:ln w="22225">
            <a:solidFill>
              <a:srgbClr val="026BEF"/>
            </a:solidFill>
            <a:prstDash val="solid"/>
          </a:ln>
        </p:spPr>
      </p:sp>
      <p:sp>
        <p:nvSpPr>
          <p:cNvPr id="12" name="Jan 2027 event"/>
          <p:cNvSpPr txBox="1"/>
          <p:nvPr/>
        </p:nvSpPr>
        <p:spPr>
          <a:xfrm>
            <a:off x="4277258" y="2788920"/>
            <a:ext cx="158998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Germany: firms above €800K turnover must issue</a:t>
            </a:r>
            <a:endParaRPr lang="en-US" sz="1400" dirty="0"/>
          </a:p>
        </p:txBody>
      </p:sp>
      <p:sp>
        <p:nvSpPr>
          <p:cNvPr id="13" name="Sep 2027 date"/>
          <p:cNvSpPr txBox="1"/>
          <p:nvPr/>
        </p:nvSpPr>
        <p:spPr>
          <a:xfrm>
            <a:off x="6095848" y="1737360"/>
            <a:ext cx="16357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Sep 2027</a:t>
            </a:r>
            <a:endParaRPr lang="en-US" sz="1800" dirty="0"/>
          </a:p>
        </p:txBody>
      </p:sp>
      <p:sp>
        <p:nvSpPr>
          <p:cNvPr id="14" name="Sep 2027 marker"/>
          <p:cNvSpPr/>
          <p:nvPr/>
        </p:nvSpPr>
        <p:spPr>
          <a:xfrm>
            <a:off x="6095848" y="2423160"/>
            <a:ext cx="182880" cy="182880"/>
          </a:xfrm>
          <a:prstGeom prst="ellipse">
            <a:avLst/>
          </a:prstGeom>
          <a:solidFill>
            <a:schemeClr val="bg1"/>
          </a:solidFill>
          <a:ln w="22225">
            <a:solidFill>
              <a:srgbClr val="026BEF"/>
            </a:solidFill>
            <a:prstDash val="solid"/>
          </a:ln>
        </p:spPr>
      </p:sp>
      <p:sp>
        <p:nvSpPr>
          <p:cNvPr id="15" name="Sep 2027 event"/>
          <p:cNvSpPr txBox="1"/>
          <p:nvPr/>
        </p:nvSpPr>
        <p:spPr>
          <a:xfrm>
            <a:off x="6095848" y="2788920"/>
            <a:ext cx="158998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France: small and micro-businesses must issue</a:t>
            </a:r>
            <a:endParaRPr lang="en-US" sz="1400" dirty="0"/>
          </a:p>
        </p:txBody>
      </p:sp>
      <p:sp>
        <p:nvSpPr>
          <p:cNvPr id="16" name="Jan 2028 date"/>
          <p:cNvSpPr txBox="1"/>
          <p:nvPr/>
        </p:nvSpPr>
        <p:spPr>
          <a:xfrm>
            <a:off x="7914437" y="1737360"/>
            <a:ext cx="16357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Jan 2028</a:t>
            </a:r>
            <a:endParaRPr lang="en-US" sz="1800" dirty="0"/>
          </a:p>
        </p:txBody>
      </p:sp>
      <p:sp>
        <p:nvSpPr>
          <p:cNvPr id="17" name="Jan 2028 marker"/>
          <p:cNvSpPr/>
          <p:nvPr/>
        </p:nvSpPr>
        <p:spPr>
          <a:xfrm>
            <a:off x="7914437" y="2423160"/>
            <a:ext cx="182880" cy="182880"/>
          </a:xfrm>
          <a:prstGeom prst="ellipse">
            <a:avLst/>
          </a:prstGeom>
          <a:solidFill>
            <a:schemeClr val="bg1"/>
          </a:solidFill>
          <a:ln w="22225">
            <a:solidFill>
              <a:srgbClr val="026BEF"/>
            </a:solidFill>
            <a:prstDash val="solid"/>
          </a:ln>
        </p:spPr>
      </p:sp>
      <p:sp>
        <p:nvSpPr>
          <p:cNvPr id="18" name="Jan 2028 event"/>
          <p:cNvSpPr txBox="1"/>
          <p:nvPr/>
        </p:nvSpPr>
        <p:spPr>
          <a:xfrm>
            <a:off x="7914437" y="2788920"/>
            <a:ext cx="158998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Germany: every business must issue</a:t>
            </a:r>
            <a:endParaRPr lang="en-US" sz="1400" dirty="0"/>
          </a:p>
        </p:txBody>
      </p:sp>
      <p:sp>
        <p:nvSpPr>
          <p:cNvPr id="19" name="Jul 2030 date"/>
          <p:cNvSpPr txBox="1"/>
          <p:nvPr/>
        </p:nvSpPr>
        <p:spPr>
          <a:xfrm>
            <a:off x="9733026" y="1737360"/>
            <a:ext cx="16357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Jul 2030</a:t>
            </a:r>
            <a:endParaRPr lang="en-US" sz="1800" dirty="0"/>
          </a:p>
        </p:txBody>
      </p:sp>
      <p:sp>
        <p:nvSpPr>
          <p:cNvPr id="20" name="Jul 2030 marker"/>
          <p:cNvSpPr/>
          <p:nvPr/>
        </p:nvSpPr>
        <p:spPr>
          <a:xfrm>
            <a:off x="9733026" y="2423160"/>
            <a:ext cx="182880" cy="182880"/>
          </a:xfrm>
          <a:prstGeom prst="ellipse">
            <a:avLst/>
          </a:prstGeom>
          <a:solidFill>
            <a:schemeClr val="bg1"/>
          </a:solidFill>
          <a:ln w="22225">
            <a:solidFill>
              <a:srgbClr val="026BEF"/>
            </a:solidFill>
            <a:prstDash val="solid"/>
          </a:ln>
        </p:spPr>
      </p:sp>
      <p:sp>
        <p:nvSpPr>
          <p:cNvPr id="21" name="Jul 2030 event"/>
          <p:cNvSpPr txBox="1"/>
          <p:nvPr/>
        </p:nvSpPr>
        <p:spPr>
          <a:xfrm>
            <a:off x="9733026" y="2788920"/>
            <a:ext cx="158998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EU (ViDA): e-invoices for cross-border B2B sales</a:t>
            </a:r>
            <a:endParaRPr lang="en-US" sz="1400" dirty="0"/>
          </a:p>
        </p:txBody>
      </p:sp>
      <p:sp>
        <p:nvSpPr>
          <p:cNvPr id="22" name="Today tick"/>
          <p:cNvSpPr/>
          <p:nvPr/>
        </p:nvSpPr>
        <p:spPr>
          <a:xfrm>
            <a:off x="3893210" y="2221992"/>
            <a:ext cx="0" cy="585216"/>
          </a:xfrm>
          <a:prstGeom prst="line">
            <a:avLst/>
          </a:prstGeom>
          <a:noFill/>
          <a:ln w="19050">
            <a:solidFill>
              <a:srgbClr val="026BEF"/>
            </a:solidFill>
            <a:prstDash val="solid"/>
          </a:ln>
        </p:spPr>
      </p:sp>
      <p:sp>
        <p:nvSpPr>
          <p:cNvPr id="23" name="Today label"/>
          <p:cNvSpPr txBox="1"/>
          <p:nvPr/>
        </p:nvSpPr>
        <p:spPr>
          <a:xfrm>
            <a:off x="3344570" y="1965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Today</a:t>
            </a:r>
            <a:endParaRPr lang="en-US" sz="1100" dirty="0"/>
          </a:p>
        </p:txBody>
      </p:sp>
      <p:sp>
        <p:nvSpPr>
          <p:cNvPr id="24" name="Next heading"/>
          <p:cNvSpPr txBox="1"/>
          <p:nvPr/>
        </p:nvSpPr>
        <p:spPr>
          <a:xfrm>
            <a:off x="548640" y="41605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Kydi adds next</a:t>
            </a:r>
            <a:endParaRPr lang="en-US" sz="1800" dirty="0"/>
          </a:p>
        </p:txBody>
      </p:sp>
      <p:sp>
        <p:nvSpPr>
          <p:cNvPr id="25" name="Next 1"/>
          <p:cNvSpPr txBox="1"/>
          <p:nvPr/>
        </p:nvSpPr>
        <p:spPr>
          <a:xfrm>
            <a:off x="548640" y="4617720"/>
            <a:ext cx="34847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 16931 e-invoices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Factur-X, ZUGFeRD and UBL output from the invoices people already send</a:t>
            </a:r>
            <a:endParaRPr lang="en-US" sz="1400" dirty="0"/>
          </a:p>
        </p:txBody>
      </p:sp>
      <p:sp>
        <p:nvSpPr>
          <p:cNvPr id="26" name="Next 2"/>
          <p:cNvSpPr txBox="1"/>
          <p:nvPr/>
        </p:nvSpPr>
        <p:spPr>
          <a:xfrm>
            <a:off x="4353458" y="4617720"/>
            <a:ext cx="34847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Peppol delivery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Send and receive structured invoices through an access point</a:t>
            </a:r>
            <a:endParaRPr lang="en-US" sz="1400" dirty="0"/>
          </a:p>
        </p:txBody>
      </p:sp>
      <p:sp>
        <p:nvSpPr>
          <p:cNvPr id="27" name="Next 3"/>
          <p:cNvSpPr txBox="1"/>
          <p:nvPr/>
        </p:nvSpPr>
        <p:spPr>
          <a:xfrm>
            <a:off x="8158277" y="4617720"/>
            <a:ext cx="34847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One-click hosting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 listed Zenith app, so non-technical owners can run their own Kydi</a:t>
            </a:r>
            <a:endParaRPr lang="en-US" sz="1400" dirty="0"/>
          </a:p>
        </p:txBody>
      </p:sp>
      <p:sp>
        <p:nvSpPr>
          <p:cNvPr id="28" name="Sources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Sources: EY Tax News, ViDA adopted March 2025. Germany (Growth Opportunities Act) and France timelines as summarised by VATit and eConnect, 2025–26.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3679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ydi logo" descr="C:\Projects\zenith-hackathon\pitch\kyd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4023360" cy="1634947"/>
          </a:xfrm>
          <a:prstGeom prst="rect">
            <a:avLst/>
          </a:prstGeom>
        </p:spPr>
      </p:pic>
      <p:sp>
        <p:nvSpPr>
          <p:cNvPr id="3" name="Closing line"/>
          <p:cNvSpPr txBox="1"/>
          <p:nvPr/>
        </p:nvSpPr>
        <p:spPr>
          <a:xfrm>
            <a:off x="868680" y="3566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Invoicing you own</a:t>
            </a:r>
            <a:endParaRPr lang="en-US" sz="4000" dirty="0"/>
          </a:p>
        </p:txBody>
      </p:sp>
      <p:sp>
        <p:nvSpPr>
          <p:cNvPr id="4" name="Links"/>
          <p:cNvSpPr txBox="1"/>
          <p:nvPr/>
        </p:nvSpPr>
        <p:spPr>
          <a:xfrm>
            <a:off x="868680" y="4434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github.com/petmav/kydi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MIT licence  ·  self-host with Docker  ·  deploy on Zenith Hosting</a:t>
            </a:r>
            <a:endParaRPr lang="en-US" sz="1800" dirty="0"/>
          </a:p>
        </p:txBody>
      </p:sp>
      <p:sp>
        <p:nvSpPr>
          <p:cNvPr id="5" name="Event"/>
          <p:cNvSpPr txBox="1"/>
          <p:nvPr/>
        </p:nvSpPr>
        <p:spPr>
          <a:xfrm>
            <a:off x="86868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Zenith Hackathon  ·  October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ydi">
  <a:themeElements>
    <a:clrScheme name="Kydi">
      <a:dk1>
        <a:srgbClr val="0D1D39"/>
      </a:dk1>
      <a:lt1>
        <a:srgbClr val="FFFFFF"/>
      </a:lt1>
      <a:dk2>
        <a:srgbClr val="5A6478"/>
      </a:dk2>
      <a:lt2>
        <a:srgbClr val="F2F4F8"/>
      </a:lt2>
      <a:accent1>
        <a:srgbClr val="026BEF"/>
      </a:accent1>
      <a:accent2>
        <a:srgbClr val="0D1D39"/>
      </a:accent2>
      <a:accent3>
        <a:srgbClr val="A9B4C6"/>
      </a:accent3>
      <a:accent4>
        <a:srgbClr val="D5DCE7"/>
      </a:accent4>
      <a:accent5>
        <a:srgbClr val="3C4A63"/>
      </a:accent5>
      <a:accent6>
        <a:srgbClr val="7E8AA0"/>
      </a:accent6>
      <a:hlink>
        <a:srgbClr val="026BEF"/>
      </a:hlink>
      <a:folHlink>
        <a:srgbClr val="3C4A63"/>
      </a:folHlink>
    </a:clrScheme>
    <a:fontScheme name="Kydi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Kydi: open-source invoicing for freelancers and small businesses</dc:title>
  <dc:subject>PptxGenJS Presentation</dc:subject>
  <dc:creator>Kydi team</dc:creator>
  <cp:lastModifiedBy>Kydi team</cp:lastModifiedBy>
  <cp:revision>1</cp:revision>
  <dcterms:created xsi:type="dcterms:W3CDTF">2026-10-17T06:13:25Z</dcterms:created>
  <dcterms:modified xsi:type="dcterms:W3CDTF">2026-10-17T06:13:25Z</dcterms:modified>
</cp:coreProperties>
</file>