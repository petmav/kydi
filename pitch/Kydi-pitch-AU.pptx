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11EE70-FFC5-9294-3AB7-5E6AB7C640C5}">
          <p14:sldIdLst>
            <p14:sldId id="256"/>
          </p14:sldIdLst>
        </p14:section>
        <p14:section name="Problem" id="{A9B97483-8597-7914-9992-044926BF50A6}">
          <p14:sldIdLst>
            <p14:sldId id="257"/>
          </p14:sldIdLst>
        </p14:section>
        <p14:section name="Market" id="{4FA722C8-4FF0-9969-C4AD-A601A16CE693}">
          <p14:sldIdLst>
            <p14:sldId id="258"/>
          </p14:sldIdLst>
        </p14:section>
        <p14:section name="Alternatives" id="{8C82A610-97B6-3B36-BC18-C83F16F106B9}">
          <p14:sldIdLst>
            <p14:sldId id="259"/>
          </p14:sldIdLst>
        </p14:section>
        <p14:section name="Product" id="{100FC723-DBF6-6D16-8CA6-42B92565EDC2}">
          <p14:sldIdLst>
            <p14:sldId id="260"/>
          </p14:sldIdLst>
        </p14:section>
        <p14:section name="Australia" id="{32CB8B91-EEAF-CEA8-48CF-CEE2313ABABE}">
          <p14:sldIdLst>
            <p14:sldId id="261"/>
          </p14:sldIdLst>
        </p14:section>
        <p14:section name="Traction" id="{297E3947-D733-D2CE-0261-21AD8BF42A58}">
          <p14:sldIdLst>
            <p14:sldId id="262"/>
          </p14:sldIdLst>
        </p14:section>
        <p14:section name="Why now" id="{7F93FEFD-384E-50B6-7D46-9F3D07D0A6A6}">
          <p14:sldIdLst>
            <p14:sldId id="263"/>
          </p14:sldIdLst>
        </p14:section>
        <p14:section name="Close" id="{22009896-5A8A-D277-D6E8-D664BBD8B98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45"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Days</c:v>
                </c:pt>
              </c:strCache>
            </c:strRef>
          </c:tx>
          <c:spPr>
            <a:solidFill>
              <a:srgbClr val="026BEF"/>
            </a:solidFill>
            <a:effectLst/>
          </c:spPr>
          <c:invertIfNegative val="0"/>
          <c:dPt>
            <c:idx val="0"/>
            <c:invertIfNegative val="0"/>
            <c:bubble3D val="0"/>
            <c:extLst>
              <c:ext xmlns:c16="http://schemas.microsoft.com/office/drawing/2014/chart" uri="{C3380CC4-5D6E-409C-BE32-E72D297353CC}">
                <c16:uniqueId val="{00000001-5441-475A-B4BE-30FED90D5D75}"/>
              </c:ext>
            </c:extLst>
          </c:dPt>
          <c:dPt>
            <c:idx val="1"/>
            <c:invertIfNegative val="0"/>
            <c:bubble3D val="0"/>
            <c:spPr>
              <a:solidFill>
                <a:srgbClr val="F2A33A"/>
              </a:solidFill>
              <a:effectLst/>
            </c:spPr>
            <c:extLst>
              <c:ext xmlns:c16="http://schemas.microsoft.com/office/drawing/2014/chart" uri="{C3380CC4-5D6E-409C-BE32-E72D297353CC}">
                <c16:uniqueId val="{00000003-5441-475A-B4BE-30FED90D5D75}"/>
              </c:ext>
            </c:extLst>
          </c:dPt>
          <c:dLbls>
            <c:numFmt formatCode="0.0&quot; days&quot;" sourceLinked="0"/>
            <c:spPr>
              <a:noFill/>
              <a:ln>
                <a:noFill/>
              </a:ln>
              <a:effectLst/>
            </c:spPr>
            <c:txPr>
              <a:bodyPr/>
              <a:lstStyle/>
              <a:p>
                <a:pPr>
                  <a:defRPr sz="1400" b="0" i="0" u="none" strike="noStrike">
                    <a:solidFill>
                      <a:srgbClr val="0E1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Time to get paid</c:v>
                </c:pt>
                <c:pt idx="1">
                  <c:v>Paid after the due date</c:v>
                </c:pt>
              </c:strCache>
            </c:strRef>
          </c:cat>
          <c:val>
            <c:numRef>
              <c:f>Sheet1!$B$2:$B$3</c:f>
              <c:numCache>
                <c:formatCode>General</c:formatCode>
                <c:ptCount val="2"/>
                <c:pt idx="0">
                  <c:v>22.9</c:v>
                </c:pt>
                <c:pt idx="1">
                  <c:v>6</c:v>
                </c:pt>
              </c:numCache>
            </c:numRef>
          </c:val>
          <c:extLst>
            <c:ext xmlns:c16="http://schemas.microsoft.com/office/drawing/2014/chart" uri="{C3380CC4-5D6E-409C-BE32-E72D297353CC}">
              <c16:uniqueId val="{00000004-5441-475A-B4BE-30FED90D5D7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E1A33"/>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B6782"/>
                </a:solidFill>
                <a:latin typeface="+mn-lt"/>
              </a:defRPr>
            </a:pPr>
            <a:r>
              <a:rPr lang="en-US" sz="1400" b="0" i="0" u="none" strike="noStrike">
                <a:solidFill>
                  <a:srgbClr val="5B6782"/>
                </a:solidFill>
                <a:latin typeface="+mn-lt"/>
              </a:rPr>
              <a:t>AUD per month, list price</a:t>
            </a:r>
          </a:p>
        </c:rich>
      </c:tx>
      <c:overlay val="0"/>
    </c:title>
    <c:autoTitleDeleted val="0"/>
    <c:plotArea>
      <c:layout/>
      <c:barChart>
        <c:barDir val="col"/>
        <c:grouping val="clustered"/>
        <c:varyColors val="0"/>
        <c:ser>
          <c:idx val="0"/>
          <c:order val="0"/>
          <c:tx>
            <c:strRef>
              <c:f>Sheet1!$B$1</c:f>
              <c:strCache>
                <c:ptCount val="1"/>
                <c:pt idx="0">
                  <c:v>Entry plan</c:v>
                </c:pt>
              </c:strCache>
            </c:strRef>
          </c:tx>
          <c:spPr>
            <a:solidFill>
              <a:srgbClr val="8DB8FF"/>
            </a:solidFill>
            <a:effectLst/>
          </c:spPr>
          <c:invertIfNegative val="0"/>
          <c:dLbls>
            <c:numFmt formatCode="&quot;$&quot;0" sourceLinked="0"/>
            <c:spPr>
              <a:noFill/>
              <a:ln>
                <a:noFill/>
              </a:ln>
              <a:effectLst/>
            </c:spPr>
            <c:txPr>
              <a:bodyPr/>
              <a:lstStyle/>
              <a:p>
                <a:pPr>
                  <a:defRPr sz="1200" b="0" i="0" u="none" strike="noStrike">
                    <a:solidFill>
                      <a:srgbClr val="0E1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Xero</c:v>
                </c:pt>
                <c:pt idx="1">
                  <c:v>MYOB</c:v>
                </c:pt>
                <c:pt idx="2">
                  <c:v>QuickBooks</c:v>
                </c:pt>
                <c:pt idx="3">
                  <c:v>FreshBooks</c:v>
                </c:pt>
              </c:strCache>
            </c:strRef>
          </c:cat>
          <c:val>
            <c:numRef>
              <c:f>Sheet1!$B$2:$B$5</c:f>
              <c:numCache>
                <c:formatCode>General</c:formatCode>
                <c:ptCount val="4"/>
                <c:pt idx="0">
                  <c:v>37</c:v>
                </c:pt>
                <c:pt idx="1">
                  <c:v>26</c:v>
                </c:pt>
                <c:pt idx="2">
                  <c:v>33</c:v>
                </c:pt>
                <c:pt idx="3">
                  <c:v>29</c:v>
                </c:pt>
              </c:numCache>
            </c:numRef>
          </c:val>
          <c:extLst>
            <c:ext xmlns:c16="http://schemas.microsoft.com/office/drawing/2014/chart" uri="{C3380CC4-5D6E-409C-BE32-E72D297353CC}">
              <c16:uniqueId val="{00000000-0409-4859-B6C0-58E8617A0B51}"/>
            </c:ext>
          </c:extLst>
        </c:ser>
        <c:ser>
          <c:idx val="1"/>
          <c:order val="1"/>
          <c:tx>
            <c:strRef>
              <c:f>Sheet1!$C$1</c:f>
              <c:strCache>
                <c:ptCount val="1"/>
                <c:pt idx="0">
                  <c:v>Growing-business plan</c:v>
                </c:pt>
              </c:strCache>
            </c:strRef>
          </c:tx>
          <c:spPr>
            <a:solidFill>
              <a:srgbClr val="026BEF"/>
            </a:solidFill>
            <a:effectLst/>
          </c:spPr>
          <c:invertIfNegative val="0"/>
          <c:dLbls>
            <c:numFmt formatCode="&quot;$&quot;0" sourceLinked="0"/>
            <c:spPr>
              <a:noFill/>
              <a:ln>
                <a:noFill/>
              </a:ln>
              <a:effectLst/>
            </c:spPr>
            <c:txPr>
              <a:bodyPr/>
              <a:lstStyle/>
              <a:p>
                <a:pPr>
                  <a:defRPr sz="1200" b="0" i="0" u="none" strike="noStrike">
                    <a:solidFill>
                      <a:srgbClr val="0E1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Xero</c:v>
                </c:pt>
                <c:pt idx="1">
                  <c:v>MYOB</c:v>
                </c:pt>
                <c:pt idx="2">
                  <c:v>QuickBooks</c:v>
                </c:pt>
                <c:pt idx="3">
                  <c:v>FreshBooks</c:v>
                </c:pt>
              </c:strCache>
            </c:strRef>
          </c:cat>
          <c:val>
            <c:numRef>
              <c:f>Sheet1!$C$2:$C$5</c:f>
              <c:numCache>
                <c:formatCode>General</c:formatCode>
                <c:ptCount val="4"/>
                <c:pt idx="0">
                  <c:v>78</c:v>
                </c:pt>
                <c:pt idx="1">
                  <c:v>70</c:v>
                </c:pt>
                <c:pt idx="2">
                  <c:v>60</c:v>
                </c:pt>
                <c:pt idx="3">
                  <c:v>43</c:v>
                </c:pt>
              </c:numCache>
            </c:numRef>
          </c:val>
          <c:extLst>
            <c:ext xmlns:c16="http://schemas.microsoft.com/office/drawing/2014/chart" uri="{C3380CC4-5D6E-409C-BE32-E72D297353CC}">
              <c16:uniqueId val="{00000001-0409-4859-B6C0-58E8617A0B51}"/>
            </c:ext>
          </c:extLst>
        </c:ser>
        <c:dLbls>
          <c:showLegendKey val="0"/>
          <c:showVal val="1"/>
          <c:showCatName val="0"/>
          <c:showSerName val="0"/>
          <c:showPercent val="0"/>
          <c:showBubbleSize val="0"/>
        </c:dLbls>
        <c:gapWidth val="70"/>
        <c:overlap val="-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3E9F3"/>
            </a:solidFill>
            <a:prstDash val="solid"/>
            <a:round/>
          </a:ln>
        </c:spPr>
        <c:txPr>
          <a:bodyPr/>
          <a:lstStyle/>
          <a:p>
            <a:pPr>
              <a:defRPr sz="1400" b="0" i="0" u="none" strike="noStrike">
                <a:solidFill>
                  <a:srgbClr val="0E1A33"/>
                </a:solidFill>
                <a:latin typeface="+mn-lt"/>
              </a:defRPr>
            </a:pPr>
            <a:endParaRPr lang="en-US"/>
          </a:p>
        </c:txPr>
        <c:crossAx val="2094734552"/>
        <c:crosses val="autoZero"/>
        <c:auto val="1"/>
        <c:lblAlgn val="ctr"/>
        <c:lblOffset val="100"/>
        <c:noMultiLvlLbl val="1"/>
      </c:catAx>
      <c:valAx>
        <c:axId val="2094734552"/>
        <c:scaling>
          <c:orientation val="minMax"/>
          <c:max val="9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200">
              <a:solidFill>
                <a:srgbClr val="5B678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8523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Kydi is open-source invoicing built for Australian small businesses. GST and ABN on every invoice, and you run it yourself, so the software and the data are yours. Those are real invoices Kydi produced for a Sydney demo company. (about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an invoice is easy. Getting paid is not. Xero's data says the average Australian small business waits almost 23 days to be paid, and six of those days are after the due date. That costs the average business around fifteen thousand dollars a year, and payment disputes are now 42 percent of new cases at the Small Business Ombudsman, up from 26.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is large and mostly tiny businesses. 2.8 million businesses are actively trading, nearly two thirds have no employees, and there are 1.1 million independent contractors. Every one of them issues tax invoices, and most can't justify a full accounting suite to do it. (about 25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choice is to rent. Xero, MYOB, QuickBooks and FreshBooks start around 25 to 40 dollars a month and climb to 60 to 80 once you grow, and Xero has just raised prices for the third time in recent years. Kydi costs nothing to run: MIT-licensed, on your own server, with no limits on invoices, users or companies.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Kydi runs the whole loop. A customer accepts an estimate in their portal, it becomes an invoice in one click or a recurring one that sends itself, payments are matched against invoices and anything overdue is flagged. The dashboard shows what you're owed and how late it is. Suppliers, bills and expenses sit alongside, so profit and loss is real.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built for how Australians invoice. Your ABN prints on every document, GST is handled at ten percent on sales with credits on purchases, prices can be GST-inclusive, and it defaults to Australian dollars, Australian dates and a July to June financial year. Trans-Tasman customers get NZD with live rates, and the tax summary report gives you what you need for your BAS.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this during the hackathon: twenty-five thousand lines of strict TypeScript, 145 automated tests, 44 data models and 88 screens. Everything you've seen works today, and one command deploys it on Zenith with its own database and secrets.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Government agencies pay Peppol e-invoices in five days instead of twenty, 400,000 Australian businesses are already on the network, and three in ten invoices from big businesses still aren't paid within a month. Small suppliers need e-invoicing, and the incumbents keep raising prices. Next we add ATO tax-invoice checks, then Peppol sending and receiving, then one-click hosting so any sole trader can run their own Kydi. (about 35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Kydi: invoicing Australian businesses own. It's on GitHub under MIT and deploys on Zenith today. Thank you. (about 10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YDI_DARK">
    <p:bg>
      <p:bgPr>
        <a:solidFill>
          <a:srgbClr val="0B163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YDI_LIGHT">
    <p:bg>
      <p:bgPr>
        <a:solidFill>
          <a:srgbClr val="F4F7F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13232"/>
            <a:ext cx="11094415" cy="658368"/>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endParaRPr lang="en-US" sz="3200" dirty="0"/>
          </a:p>
        </p:txBody>
      </p:sp>
      <p:pic>
        <p:nvPicPr>
          <p:cNvPr id="3" name="Image 0" descr="C:\Projects\zenith-hackathon\pitch\kydi-icon.png"/>
          <p:cNvPicPr>
            <a:picLocks noChangeAspect="1"/>
          </p:cNvPicPr>
          <p:nvPr/>
        </p:nvPicPr>
        <p:blipFill>
          <a:blip r:embed="rId2"/>
          <a:stretch>
            <a:fillRect/>
          </a:stretch>
        </p:blipFill>
        <p:spPr>
          <a:xfrm>
            <a:off x="548640" y="6382512"/>
            <a:ext cx="199339" cy="219456"/>
          </a:xfrm>
          <a:prstGeom prst="rect">
            <a:avLst/>
          </a:prstGeom>
        </p:spPr>
      </p:pic>
      <p:sp>
        <p:nvSpPr>
          <p:cNvPr id="4" name="Text 0"/>
          <p:cNvSpPr/>
          <p:nvPr/>
        </p:nvSpPr>
        <p:spPr>
          <a:xfrm>
            <a:off x="822960" y="6382512"/>
            <a:ext cx="1828800" cy="219456"/>
          </a:xfrm>
          <a:prstGeom prst="rect">
            <a:avLst/>
          </a:prstGeom>
          <a:noFill/>
          <a:ln/>
        </p:spPr>
        <p:txBody>
          <a:bodyPr wrap="square" lIns="0" tIns="0" rIns="0" bIns="0" rtlCol="0" anchor="ctr"/>
          <a:lstStyle/>
          <a:p>
            <a:pPr marL="0" indent="0">
              <a:buNone/>
            </a:pPr>
            <a:r>
              <a:rPr lang="en-US" sz="1000" dirty="0">
                <a:solidFill>
                  <a:schemeClr val="tx2"/>
                </a:solidFill>
              </a:rPr>
              <a:t>Kydi</a:t>
            </a:r>
            <a:endParaRPr lang="en-US" sz="1000" dirty="0"/>
          </a:p>
        </p:txBody>
      </p:sp>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1"/>
          <p:cNvSpPr/>
          <p:nvPr/>
        </p:nvSpPr>
        <p:spPr>
          <a:xfrm>
            <a:off x="8321040" y="1920240"/>
            <a:ext cx="3291840" cy="3291840"/>
          </a:xfrm>
          <a:prstGeom prst="ellipse">
            <a:avLst/>
          </a:prstGeom>
          <a:ln w="15875">
            <a:solidFill>
              <a:srgbClr val="1E3563"/>
            </a:solidFill>
            <a:prstDash val="solid"/>
          </a:ln>
        </p:spPr>
        <p:txBody>
          <a:bodyPr/>
          <a:lstStyle/>
          <a:p>
            <a:endParaRPr lang="en-AU"/>
          </a:p>
        </p:txBody>
      </p:sp>
      <p:sp>
        <p:nvSpPr>
          <p:cNvPr id="3" name="Ring 2"/>
          <p:cNvSpPr/>
          <p:nvPr/>
        </p:nvSpPr>
        <p:spPr>
          <a:xfrm>
            <a:off x="7406640" y="1005840"/>
            <a:ext cx="5120640" cy="5120640"/>
          </a:xfrm>
          <a:prstGeom prst="ellipse">
            <a:avLst/>
          </a:prstGeom>
          <a:ln w="15875">
            <a:solidFill>
              <a:srgbClr val="1E3563"/>
            </a:solidFill>
            <a:prstDash val="solid"/>
          </a:ln>
        </p:spPr>
        <p:txBody>
          <a:bodyPr/>
          <a:lstStyle/>
          <a:p>
            <a:endParaRPr lang="en-AU"/>
          </a:p>
        </p:txBody>
      </p:sp>
      <p:sp>
        <p:nvSpPr>
          <p:cNvPr id="4" name="Ring 3"/>
          <p:cNvSpPr/>
          <p:nvPr/>
        </p:nvSpPr>
        <p:spPr>
          <a:xfrm>
            <a:off x="6492240" y="91440"/>
            <a:ext cx="6949440" cy="6949440"/>
          </a:xfrm>
          <a:prstGeom prst="ellipse">
            <a:avLst/>
          </a:prstGeom>
          <a:ln w="15875">
            <a:solidFill>
              <a:srgbClr val="1E3563"/>
            </a:solidFill>
            <a:prstDash val="solid"/>
          </a:ln>
        </p:spPr>
        <p:txBody>
          <a:bodyPr/>
          <a:lstStyle/>
          <a:p>
            <a:endParaRPr lang="en-AU"/>
          </a:p>
        </p:txBody>
      </p:sp>
      <p:sp>
        <p:nvSpPr>
          <p:cNvPr id="5" name="Invoice, template 3 paper"/>
          <p:cNvSpPr/>
          <p:nvPr/>
        </p:nvSpPr>
        <p:spPr>
          <a:xfrm rot="-300000">
            <a:off x="6903720" y="914400"/>
            <a:ext cx="3749040" cy="2650503"/>
          </a:xfrm>
          <a:prstGeom prst="rect">
            <a:avLst/>
          </a:prstGeom>
          <a:solidFill>
            <a:schemeClr val="bg1"/>
          </a:solidFill>
          <a:ln/>
          <a:effectLst>
            <a:outerShdw blurRad="304800" dist="101600" dir="5400000" algn="bl" rotWithShape="0">
              <a:srgbClr val="000000">
                <a:alpha val="35000"/>
              </a:srgbClr>
            </a:outerShdw>
          </a:effectLst>
        </p:spPr>
        <p:txBody>
          <a:bodyPr/>
          <a:lstStyle/>
          <a:p>
            <a:endParaRPr lang="en-AU"/>
          </a:p>
        </p:txBody>
      </p:sp>
      <p:pic>
        <p:nvPicPr>
          <p:cNvPr id="6" name="Invoice, template 3" descr="C:\Projects\zenith-hackathon\pitch\invoice-au-3.png"/>
          <p:cNvPicPr>
            <a:picLocks noChangeAspect="1"/>
          </p:cNvPicPr>
          <p:nvPr/>
        </p:nvPicPr>
        <p:blipFill>
          <a:blip r:embed="rId3"/>
          <a:stretch>
            <a:fillRect/>
          </a:stretch>
        </p:blipFill>
        <p:spPr>
          <a:xfrm rot="-300000">
            <a:off x="6903720" y="914400"/>
            <a:ext cx="3749040" cy="2650503"/>
          </a:xfrm>
          <a:prstGeom prst="rect">
            <a:avLst/>
          </a:prstGeom>
        </p:spPr>
      </p:pic>
      <p:sp>
        <p:nvSpPr>
          <p:cNvPr id="7" name="Invoice, template 1 paper"/>
          <p:cNvSpPr/>
          <p:nvPr/>
        </p:nvSpPr>
        <p:spPr>
          <a:xfrm rot="180000">
            <a:off x="7726680" y="2240280"/>
            <a:ext cx="3749040" cy="2759739"/>
          </a:xfrm>
          <a:prstGeom prst="rect">
            <a:avLst/>
          </a:prstGeom>
          <a:solidFill>
            <a:schemeClr val="bg1"/>
          </a:solidFill>
          <a:ln/>
          <a:effectLst>
            <a:outerShdw blurRad="304800" dist="101600" dir="5400000" algn="bl" rotWithShape="0">
              <a:srgbClr val="000000">
                <a:alpha val="35000"/>
              </a:srgbClr>
            </a:outerShdw>
          </a:effectLst>
        </p:spPr>
        <p:txBody>
          <a:bodyPr/>
          <a:lstStyle/>
          <a:p>
            <a:endParaRPr lang="en-AU"/>
          </a:p>
        </p:txBody>
      </p:sp>
      <p:pic>
        <p:nvPicPr>
          <p:cNvPr id="8" name="Invoice, template 1" descr="C:\Projects\zenith-hackathon\pitch\invoice-au.png"/>
          <p:cNvPicPr>
            <a:picLocks noChangeAspect="1"/>
          </p:cNvPicPr>
          <p:nvPr/>
        </p:nvPicPr>
        <p:blipFill>
          <a:blip r:embed="rId4"/>
          <a:stretch>
            <a:fillRect/>
          </a:stretch>
        </p:blipFill>
        <p:spPr>
          <a:xfrm rot="180000">
            <a:off x="7726680" y="2240280"/>
            <a:ext cx="3749040" cy="2759739"/>
          </a:xfrm>
          <a:prstGeom prst="rect">
            <a:avLst/>
          </a:prstGeom>
        </p:spPr>
      </p:pic>
      <p:sp>
        <p:nvSpPr>
          <p:cNvPr id="9" name="Brand dot"/>
          <p:cNvSpPr/>
          <p:nvPr/>
        </p:nvSpPr>
        <p:spPr>
          <a:xfrm>
            <a:off x="11109960" y="1417320"/>
            <a:ext cx="384048" cy="384048"/>
          </a:xfrm>
          <a:prstGeom prst="ellipse">
            <a:avLst/>
          </a:prstGeom>
          <a:solidFill>
            <a:schemeClr val="accent1"/>
          </a:solidFill>
          <a:ln/>
        </p:spPr>
        <p:txBody>
          <a:bodyPr/>
          <a:lstStyle/>
          <a:p>
            <a:endParaRPr lang="en-AU"/>
          </a:p>
        </p:txBody>
      </p:sp>
      <p:pic>
        <p:nvPicPr>
          <p:cNvPr id="10" name="Kydi logo" descr="C:\Projects\zenith-hackathon\pitch\kydi-logo-white.png"/>
          <p:cNvPicPr>
            <a:picLocks noChangeAspect="1"/>
          </p:cNvPicPr>
          <p:nvPr/>
        </p:nvPicPr>
        <p:blipFill>
          <a:blip r:embed="rId5"/>
          <a:stretch>
            <a:fillRect/>
          </a:stretch>
        </p:blipFill>
        <p:spPr>
          <a:xfrm>
            <a:off x="777240" y="1097280"/>
            <a:ext cx="3017520" cy="1227515"/>
          </a:xfrm>
          <a:prstGeom prst="rect">
            <a:avLst/>
          </a:prstGeom>
        </p:spPr>
      </p:pic>
      <p:sp>
        <p:nvSpPr>
          <p:cNvPr id="11" name="Headline"/>
          <p:cNvSpPr txBox="1"/>
          <p:nvPr/>
        </p:nvSpPr>
        <p:spPr>
          <a:xfrm>
            <a:off x="822960" y="2560320"/>
            <a:ext cx="5669280" cy="1920240"/>
          </a:xfrm>
          <a:prstGeom prst="rect">
            <a:avLst/>
          </a:prstGeom>
          <a:noFill/>
          <a:ln/>
        </p:spPr>
        <p:txBody>
          <a:bodyPr wrap="square" lIns="0" tIns="0" rIns="0" bIns="0" rtlCol="0" anchor="t"/>
          <a:lstStyle/>
          <a:p>
            <a:pPr marL="0" indent="0">
              <a:buNone/>
            </a:pPr>
            <a:r>
              <a:rPr lang="en-US" sz="3800" dirty="0">
                <a:solidFill>
                  <a:schemeClr val="bg1"/>
                </a:solidFill>
                <a:latin typeface="+mj-lt" pitchFamily="34" charset="0"/>
                <a:ea typeface="+mj-lt" pitchFamily="34" charset="-122"/>
                <a:cs typeface="+mj-lt" pitchFamily="34" charset="-120"/>
              </a:rPr>
              <a:t>Open-source invoicing for Australian small businesses</a:t>
            </a:r>
            <a:endParaRPr lang="en-US" sz="3800" dirty="0"/>
          </a:p>
        </p:txBody>
      </p:sp>
      <p:sp>
        <p:nvSpPr>
          <p:cNvPr id="12" name="Subline"/>
          <p:cNvSpPr txBox="1"/>
          <p:nvPr/>
        </p:nvSpPr>
        <p:spPr>
          <a:xfrm>
            <a:off x="822960" y="4617720"/>
            <a:ext cx="5669280" cy="411480"/>
          </a:xfrm>
          <a:prstGeom prst="rect">
            <a:avLst/>
          </a:prstGeom>
          <a:noFill/>
          <a:ln/>
        </p:spPr>
        <p:txBody>
          <a:bodyPr wrap="square" lIns="0" tIns="0" rIns="0" bIns="0" rtlCol="0" anchor="t"/>
          <a:lstStyle/>
          <a:p>
            <a:pPr marL="0" indent="0">
              <a:buNone/>
            </a:pPr>
            <a:r>
              <a:rPr lang="en-US" sz="1800" dirty="0">
                <a:solidFill>
                  <a:schemeClr val="accent3"/>
                </a:solidFill>
              </a:rPr>
              <a:t>GST and ABN ready. Self-hosted. MIT licensed.</a:t>
            </a:r>
            <a:endParaRPr lang="en-US" sz="1800" dirty="0"/>
          </a:p>
        </p:txBody>
      </p:sp>
      <p:sp>
        <p:nvSpPr>
          <p:cNvPr id="13" name="Event"/>
          <p:cNvSpPr txBox="1"/>
          <p:nvPr/>
        </p:nvSpPr>
        <p:spPr>
          <a:xfrm>
            <a:off x="822960" y="5989320"/>
            <a:ext cx="5486400" cy="320040"/>
          </a:xfrm>
          <a:prstGeom prst="rect">
            <a:avLst/>
          </a:prstGeom>
          <a:noFill/>
          <a:ln/>
        </p:spPr>
        <p:txBody>
          <a:bodyPr wrap="square" lIns="0" tIns="0" rIns="0" bIns="0" rtlCol="0" anchor="t"/>
          <a:lstStyle/>
          <a:p>
            <a:pPr marL="0" indent="0">
              <a:buNone/>
            </a:pPr>
            <a:r>
              <a:rPr lang="en-US" sz="1200" dirty="0">
                <a:solidFill>
                  <a:schemeClr val="accent3"/>
                </a:solidFill>
              </a:rPr>
              <a:t>Zenith Hackathon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THE PROBLEM</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Small businesses wait weeks to get paid</a:t>
            </a:r>
            <a:endParaRPr lang="en-US" sz="3200" dirty="0"/>
          </a:p>
        </p:txBody>
      </p:sp>
      <p:sp>
        <p:nvSpPr>
          <p:cNvPr id="5" name="Payment time card"/>
          <p:cNvSpPr/>
          <p:nvPr/>
        </p:nvSpPr>
        <p:spPr>
          <a:xfrm>
            <a:off x="548640" y="1600200"/>
            <a:ext cx="6583680" cy="4069080"/>
          </a:xfrm>
          <a:prstGeom prst="roundRect">
            <a:avLst>
              <a:gd name="adj" fmla="val 269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6" name="Payment time label"/>
          <p:cNvSpPr txBox="1"/>
          <p:nvPr/>
        </p:nvSpPr>
        <p:spPr>
          <a:xfrm>
            <a:off x="914400" y="1874520"/>
            <a:ext cx="5852160" cy="292608"/>
          </a:xfrm>
          <a:prstGeom prst="rect">
            <a:avLst/>
          </a:prstGeom>
          <a:noFill/>
          <a:ln/>
        </p:spPr>
        <p:txBody>
          <a:bodyPr wrap="square" lIns="0" tIns="0" rIns="0" bIns="0" rtlCol="0" anchor="t"/>
          <a:lstStyle/>
          <a:p>
            <a:pPr marL="0" indent="0">
              <a:buNone/>
            </a:pPr>
            <a:r>
              <a:rPr lang="en-US" sz="1400" dirty="0">
                <a:solidFill>
                  <a:schemeClr val="tx2"/>
                </a:solidFill>
              </a:rPr>
              <a:t>Average Australian small business, June 2026 quarter</a:t>
            </a:r>
            <a:endParaRPr lang="en-US" sz="1400" dirty="0"/>
          </a:p>
        </p:txBody>
      </p:sp>
      <p:sp>
        <p:nvSpPr>
          <p:cNvPr id="7" name="Payment time figure"/>
          <p:cNvSpPr txBox="1"/>
          <p:nvPr/>
        </p:nvSpPr>
        <p:spPr>
          <a:xfrm>
            <a:off x="914400" y="2194560"/>
            <a:ext cx="5852160" cy="960120"/>
          </a:xfrm>
          <a:prstGeom prst="rect">
            <a:avLst/>
          </a:prstGeom>
          <a:noFill/>
          <a:ln/>
        </p:spPr>
        <p:txBody>
          <a:bodyPr wrap="square" lIns="0" tIns="0" rIns="0" bIns="0" rtlCol="0" anchor="b"/>
          <a:lstStyle/>
          <a:p>
            <a:pPr marL="0" indent="0">
              <a:buNone/>
            </a:pPr>
            <a:r>
              <a:rPr lang="en-US" sz="6000" dirty="0">
                <a:solidFill>
                  <a:schemeClr val="tx1"/>
                </a:solidFill>
                <a:latin typeface="+mj-lt" pitchFamily="34" charset="0"/>
                <a:ea typeface="+mj-lt" pitchFamily="34" charset="-122"/>
                <a:cs typeface="+mj-lt" pitchFamily="34" charset="-120"/>
              </a:rPr>
              <a:t>22.9 days</a:t>
            </a:r>
            <a:r>
              <a:rPr lang="en-US" sz="2200" dirty="0">
                <a:solidFill>
                  <a:schemeClr val="tx2"/>
                </a:solidFill>
              </a:rPr>
              <a:t>  to get paid</a:t>
            </a:r>
            <a:endParaRPr lang="en-US" sz="6000" dirty="0"/>
          </a:p>
        </p:txBody>
      </p:sp>
      <p:graphicFrame>
        <p:nvGraphicFramePr>
          <p:cNvPr id="8" name="Payment time chart"/>
          <p:cNvGraphicFramePr/>
          <p:nvPr/>
        </p:nvGraphicFramePr>
        <p:xfrm>
          <a:off x="777240" y="3291840"/>
          <a:ext cx="612648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9" name="Lost card"/>
          <p:cNvSpPr/>
          <p:nvPr/>
        </p:nvSpPr>
        <p:spPr>
          <a:xfrm>
            <a:off x="7452360" y="1600200"/>
            <a:ext cx="4190695" cy="1892808"/>
          </a:xfrm>
          <a:prstGeom prst="roundRect">
            <a:avLst>
              <a:gd name="adj" fmla="val 579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0" name="Lost figure"/>
          <p:cNvSpPr txBox="1"/>
          <p:nvPr/>
        </p:nvSpPr>
        <p:spPr>
          <a:xfrm>
            <a:off x="7772400" y="1810512"/>
            <a:ext cx="3550615" cy="731520"/>
          </a:xfrm>
          <a:prstGeom prst="rect">
            <a:avLst/>
          </a:prstGeom>
          <a:noFill/>
          <a:ln/>
        </p:spPr>
        <p:txBody>
          <a:bodyPr wrap="square" lIns="0" tIns="0" rIns="0" bIns="0" rtlCol="0" anchor="b"/>
          <a:lstStyle/>
          <a:p>
            <a:pPr marL="0" indent="0">
              <a:buNone/>
            </a:pPr>
            <a:r>
              <a:rPr lang="en-US" sz="4400" dirty="0">
                <a:solidFill>
                  <a:schemeClr val="tx1"/>
                </a:solidFill>
                <a:latin typeface="+mj-lt" pitchFamily="34" charset="0"/>
                <a:ea typeface="+mj-lt" pitchFamily="34" charset="-122"/>
                <a:cs typeface="+mj-lt" pitchFamily="34" charset="-120"/>
              </a:rPr>
              <a:t>$15,257</a:t>
            </a:r>
            <a:endParaRPr lang="en-US" sz="4400" dirty="0"/>
          </a:p>
        </p:txBody>
      </p:sp>
      <p:sp>
        <p:nvSpPr>
          <p:cNvPr id="11" name="Lost caption"/>
          <p:cNvSpPr txBox="1"/>
          <p:nvPr/>
        </p:nvSpPr>
        <p:spPr>
          <a:xfrm>
            <a:off x="7772400" y="2606040"/>
            <a:ext cx="3550615" cy="685800"/>
          </a:xfrm>
          <a:prstGeom prst="rect">
            <a:avLst/>
          </a:prstGeom>
          <a:noFill/>
          <a:ln/>
        </p:spPr>
        <p:txBody>
          <a:bodyPr wrap="square" lIns="0" tIns="0" rIns="0" bIns="0" rtlCol="0" anchor="t"/>
          <a:lstStyle/>
          <a:p>
            <a:pPr marL="0" indent="0">
              <a:buNone/>
            </a:pPr>
            <a:r>
              <a:rPr lang="en-US" sz="1400" dirty="0">
                <a:solidFill>
                  <a:schemeClr val="tx2"/>
                </a:solidFill>
              </a:rPr>
              <a:t>lost to late payment by the average small business last financial year</a:t>
            </a:r>
            <a:endParaRPr lang="en-US" sz="1400" dirty="0"/>
          </a:p>
        </p:txBody>
      </p:sp>
      <p:sp>
        <p:nvSpPr>
          <p:cNvPr id="12" name="Disputes card"/>
          <p:cNvSpPr/>
          <p:nvPr/>
        </p:nvSpPr>
        <p:spPr>
          <a:xfrm>
            <a:off x="7452360" y="3776472"/>
            <a:ext cx="4190695" cy="1892808"/>
          </a:xfrm>
          <a:prstGeom prst="roundRect">
            <a:avLst>
              <a:gd name="adj" fmla="val 579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3" name="Disputes figure"/>
          <p:cNvSpPr txBox="1"/>
          <p:nvPr/>
        </p:nvSpPr>
        <p:spPr>
          <a:xfrm>
            <a:off x="7772400" y="3986784"/>
            <a:ext cx="1463040" cy="731520"/>
          </a:xfrm>
          <a:prstGeom prst="rect">
            <a:avLst/>
          </a:prstGeom>
          <a:noFill/>
          <a:ln/>
        </p:spPr>
        <p:txBody>
          <a:bodyPr wrap="square" lIns="0" tIns="0" rIns="0" bIns="0" rtlCol="0" anchor="b"/>
          <a:lstStyle/>
          <a:p>
            <a:pPr marL="0" indent="0">
              <a:buNone/>
            </a:pPr>
            <a:r>
              <a:rPr lang="en-US" sz="4400" dirty="0">
                <a:solidFill>
                  <a:schemeClr val="tx1"/>
                </a:solidFill>
                <a:latin typeface="+mj-lt" pitchFamily="34" charset="0"/>
                <a:ea typeface="+mj-lt" pitchFamily="34" charset="-122"/>
                <a:cs typeface="+mj-lt" pitchFamily="34" charset="-120"/>
              </a:rPr>
              <a:t>42%</a:t>
            </a:r>
            <a:endParaRPr lang="en-US" sz="4400" dirty="0"/>
          </a:p>
        </p:txBody>
      </p:sp>
      <p:sp>
        <p:nvSpPr>
          <p:cNvPr id="14" name="Disputes caption"/>
          <p:cNvSpPr txBox="1"/>
          <p:nvPr/>
        </p:nvSpPr>
        <p:spPr>
          <a:xfrm>
            <a:off x="9235440" y="4114800"/>
            <a:ext cx="2087575" cy="640080"/>
          </a:xfrm>
          <a:prstGeom prst="rect">
            <a:avLst/>
          </a:prstGeom>
          <a:noFill/>
          <a:ln/>
        </p:spPr>
        <p:txBody>
          <a:bodyPr wrap="square" lIns="0" tIns="0" rIns="0" bIns="0" rtlCol="0" anchor="ctr"/>
          <a:lstStyle/>
          <a:p>
            <a:pPr marL="0" indent="0">
              <a:buNone/>
            </a:pPr>
            <a:r>
              <a:rPr lang="en-US" sz="1400" dirty="0">
                <a:solidFill>
                  <a:schemeClr val="tx2"/>
                </a:solidFill>
              </a:rPr>
              <a:t>of new Small Business Ombudsman cases are payment disputes</a:t>
            </a:r>
            <a:endParaRPr lang="en-US" sz="1400" dirty="0"/>
          </a:p>
        </p:txBody>
      </p:sp>
      <p:sp>
        <p:nvSpPr>
          <p:cNvPr id="15" name="Disputes track"/>
          <p:cNvSpPr/>
          <p:nvPr/>
        </p:nvSpPr>
        <p:spPr>
          <a:xfrm>
            <a:off x="7772400" y="4956048"/>
            <a:ext cx="3550615" cy="146304"/>
          </a:xfrm>
          <a:prstGeom prst="roundRect">
            <a:avLst>
              <a:gd name="adj" fmla="val 50000"/>
            </a:avLst>
          </a:prstGeom>
          <a:solidFill>
            <a:schemeClr val="accent4"/>
          </a:solidFill>
          <a:ln/>
        </p:spPr>
        <p:txBody>
          <a:bodyPr/>
          <a:lstStyle/>
          <a:p>
            <a:endParaRPr lang="en-AU"/>
          </a:p>
        </p:txBody>
      </p:sp>
      <p:sp>
        <p:nvSpPr>
          <p:cNvPr id="16" name="Disputes 2023-24"/>
          <p:cNvSpPr/>
          <p:nvPr/>
        </p:nvSpPr>
        <p:spPr>
          <a:xfrm>
            <a:off x="7772400" y="4956048"/>
            <a:ext cx="1491258" cy="146304"/>
          </a:xfrm>
          <a:prstGeom prst="roundRect">
            <a:avLst>
              <a:gd name="adj" fmla="val 50000"/>
            </a:avLst>
          </a:prstGeom>
          <a:solidFill>
            <a:schemeClr val="accent5"/>
          </a:solidFill>
          <a:ln/>
        </p:spPr>
        <p:txBody>
          <a:bodyPr/>
          <a:lstStyle/>
          <a:p>
            <a:endParaRPr lang="en-AU"/>
          </a:p>
        </p:txBody>
      </p:sp>
      <p:sp>
        <p:nvSpPr>
          <p:cNvPr id="17" name="Disputes 2020-21 tick"/>
          <p:cNvSpPr/>
          <p:nvPr/>
        </p:nvSpPr>
        <p:spPr>
          <a:xfrm>
            <a:off x="8695560" y="4882896"/>
            <a:ext cx="0" cy="292608"/>
          </a:xfrm>
          <a:prstGeom prst="line">
            <a:avLst/>
          </a:prstGeom>
          <a:noFill/>
          <a:ln w="19050">
            <a:solidFill>
              <a:srgbClr val="0E1A33"/>
            </a:solidFill>
            <a:prstDash val="solid"/>
          </a:ln>
        </p:spPr>
        <p:txBody>
          <a:bodyPr/>
          <a:lstStyle/>
          <a:p>
            <a:endParaRPr lang="en-AU"/>
          </a:p>
        </p:txBody>
      </p:sp>
      <p:sp>
        <p:nvSpPr>
          <p:cNvPr id="18" name="Disputes 2020-21 label"/>
          <p:cNvSpPr txBox="1"/>
          <p:nvPr/>
        </p:nvSpPr>
        <p:spPr>
          <a:xfrm>
            <a:off x="7872600" y="5230368"/>
            <a:ext cx="1645920" cy="256032"/>
          </a:xfrm>
          <a:prstGeom prst="rect">
            <a:avLst/>
          </a:prstGeom>
          <a:noFill/>
          <a:ln/>
        </p:spPr>
        <p:txBody>
          <a:bodyPr wrap="square" lIns="0" tIns="0" rIns="0" bIns="0" rtlCol="0" anchor="t"/>
          <a:lstStyle/>
          <a:p>
            <a:pPr marL="0" indent="0" algn="ctr">
              <a:buNone/>
            </a:pPr>
            <a:r>
              <a:rPr lang="en-US" sz="1100" dirty="0">
                <a:solidFill>
                  <a:schemeClr val="tx2"/>
                </a:solidFill>
              </a:rPr>
              <a:t>26% in 2020–21</a:t>
            </a:r>
            <a:endParaRPr lang="en-US" sz="1100" dirty="0"/>
          </a:p>
        </p:txBody>
      </p:sp>
      <p:sp>
        <p:nvSpPr>
          <p:cNvPr id="19" name="Disputes 2023-24 label"/>
          <p:cNvSpPr txBox="1"/>
          <p:nvPr/>
        </p:nvSpPr>
        <p:spPr>
          <a:xfrm>
            <a:off x="9373386" y="5230368"/>
            <a:ext cx="1645920" cy="256032"/>
          </a:xfrm>
          <a:prstGeom prst="rect">
            <a:avLst/>
          </a:prstGeom>
          <a:noFill/>
          <a:ln/>
        </p:spPr>
        <p:txBody>
          <a:bodyPr wrap="square" lIns="0" tIns="0" rIns="0" bIns="0" rtlCol="0" anchor="t"/>
          <a:lstStyle/>
          <a:p>
            <a:pPr marL="0" indent="0">
              <a:buNone/>
            </a:pPr>
            <a:r>
              <a:rPr lang="en-US" sz="1100" b="1" dirty="0">
                <a:solidFill>
                  <a:schemeClr val="tx1"/>
                </a:solidFill>
              </a:rPr>
              <a:t>42% in 2023–24</a:t>
            </a:r>
            <a:endParaRPr lang="en-US" sz="1100" dirty="0"/>
          </a:p>
        </p:txBody>
      </p:sp>
      <p:sp>
        <p:nvSpPr>
          <p:cNvPr id="20"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Sources: Xero Small Business Insights, June 2026 quarter (Aug 2026); Xero research, March 2026. Australian Small Business and Family Enterprise Ombudsman, submission to Treasury, August 2024.</a:t>
            </a:r>
            <a:endParaRPr lang="en-US" sz="1000" dirty="0"/>
          </a:p>
        </p:txBody>
      </p:sp>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THE MARKET</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2.8 million Australian businesses send invoices</a:t>
            </a:r>
            <a:endParaRPr lang="en-US" sz="3200" dirty="0"/>
          </a:p>
        </p:txBody>
      </p:sp>
      <p:sp>
        <p:nvSpPr>
          <p:cNvPr id="5" name="Market stat 1"/>
          <p:cNvSpPr txBox="1"/>
          <p:nvPr/>
        </p:nvSpPr>
        <p:spPr>
          <a:xfrm>
            <a:off x="548640" y="1645920"/>
            <a:ext cx="4206240" cy="731520"/>
          </a:xfrm>
          <a:prstGeom prst="rect">
            <a:avLst/>
          </a:prstGeom>
          <a:noFill/>
          <a:ln/>
        </p:spPr>
        <p:txBody>
          <a:bodyPr wrap="square" lIns="0" tIns="0" rIns="0" bIns="0" rtlCol="0" anchor="b"/>
          <a:lstStyle/>
          <a:p>
            <a:pPr marL="0" indent="0">
              <a:buNone/>
            </a:pPr>
            <a:r>
              <a:rPr lang="en-US" sz="4800" dirty="0">
                <a:solidFill>
                  <a:schemeClr val="accent1"/>
                </a:solidFill>
                <a:latin typeface="+mj-lt" pitchFamily="34" charset="0"/>
                <a:ea typeface="+mj-lt" pitchFamily="34" charset="-122"/>
                <a:cs typeface="+mj-lt" pitchFamily="34" charset="-120"/>
              </a:rPr>
              <a:t>2.81M</a:t>
            </a:r>
            <a:endParaRPr lang="en-US" sz="4800" dirty="0"/>
          </a:p>
        </p:txBody>
      </p:sp>
      <p:sp>
        <p:nvSpPr>
          <p:cNvPr id="6" name="Market caption 1"/>
          <p:cNvSpPr txBox="1"/>
          <p:nvPr/>
        </p:nvSpPr>
        <p:spPr>
          <a:xfrm>
            <a:off x="548640" y="2423160"/>
            <a:ext cx="4023360" cy="457200"/>
          </a:xfrm>
          <a:prstGeom prst="rect">
            <a:avLst/>
          </a:prstGeom>
          <a:noFill/>
          <a:ln/>
        </p:spPr>
        <p:txBody>
          <a:bodyPr wrap="square" lIns="0" tIns="0" rIns="0" bIns="0" rtlCol="0" anchor="t"/>
          <a:lstStyle/>
          <a:p>
            <a:pPr marL="0" indent="0">
              <a:buNone/>
            </a:pPr>
            <a:r>
              <a:rPr lang="en-US" sz="1400" dirty="0">
                <a:solidFill>
                  <a:schemeClr val="tx2"/>
                </a:solidFill>
              </a:rPr>
              <a:t>actively trading businesses, June 2026</a:t>
            </a:r>
            <a:endParaRPr lang="en-US" sz="1400" dirty="0"/>
          </a:p>
        </p:txBody>
      </p:sp>
      <p:sp>
        <p:nvSpPr>
          <p:cNvPr id="7" name="Market stat 2"/>
          <p:cNvSpPr txBox="1"/>
          <p:nvPr/>
        </p:nvSpPr>
        <p:spPr>
          <a:xfrm>
            <a:off x="548640" y="3017520"/>
            <a:ext cx="4206240" cy="731520"/>
          </a:xfrm>
          <a:prstGeom prst="rect">
            <a:avLst/>
          </a:prstGeom>
          <a:noFill/>
          <a:ln/>
        </p:spPr>
        <p:txBody>
          <a:bodyPr wrap="square" lIns="0" tIns="0" rIns="0" bIns="0" rtlCol="0" anchor="b"/>
          <a:lstStyle/>
          <a:p>
            <a:pPr marL="0" indent="0">
              <a:buNone/>
            </a:pPr>
            <a:r>
              <a:rPr lang="en-US" sz="4800" dirty="0">
                <a:solidFill>
                  <a:schemeClr val="tx1"/>
                </a:solidFill>
                <a:latin typeface="+mj-lt" pitchFamily="34" charset="0"/>
                <a:ea typeface="+mj-lt" pitchFamily="34" charset="-122"/>
                <a:cs typeface="+mj-lt" pitchFamily="34" charset="-120"/>
              </a:rPr>
              <a:t>65%</a:t>
            </a:r>
            <a:endParaRPr lang="en-US" sz="4800" dirty="0"/>
          </a:p>
        </p:txBody>
      </p:sp>
      <p:sp>
        <p:nvSpPr>
          <p:cNvPr id="8" name="Market caption 2"/>
          <p:cNvSpPr txBox="1"/>
          <p:nvPr/>
        </p:nvSpPr>
        <p:spPr>
          <a:xfrm>
            <a:off x="548640" y="3794760"/>
            <a:ext cx="4023360" cy="457200"/>
          </a:xfrm>
          <a:prstGeom prst="rect">
            <a:avLst/>
          </a:prstGeom>
          <a:noFill/>
          <a:ln/>
        </p:spPr>
        <p:txBody>
          <a:bodyPr wrap="square" lIns="0" tIns="0" rIns="0" bIns="0" rtlCol="0" anchor="t"/>
          <a:lstStyle/>
          <a:p>
            <a:pPr marL="0" indent="0">
              <a:buNone/>
            </a:pPr>
            <a:r>
              <a:rPr lang="en-US" sz="1400" dirty="0">
                <a:solidFill>
                  <a:schemeClr val="tx2"/>
                </a:solidFill>
              </a:rPr>
              <a:t>have no employees: 1.82 million owner-operators</a:t>
            </a:r>
            <a:endParaRPr lang="en-US" sz="1400" dirty="0"/>
          </a:p>
        </p:txBody>
      </p:sp>
      <p:sp>
        <p:nvSpPr>
          <p:cNvPr id="9" name="Market stat 3"/>
          <p:cNvSpPr txBox="1"/>
          <p:nvPr/>
        </p:nvSpPr>
        <p:spPr>
          <a:xfrm>
            <a:off x="548640" y="4389120"/>
            <a:ext cx="4206240" cy="731520"/>
          </a:xfrm>
          <a:prstGeom prst="rect">
            <a:avLst/>
          </a:prstGeom>
          <a:noFill/>
          <a:ln/>
        </p:spPr>
        <p:txBody>
          <a:bodyPr wrap="square" lIns="0" tIns="0" rIns="0" bIns="0" rtlCol="0" anchor="b"/>
          <a:lstStyle/>
          <a:p>
            <a:pPr marL="0" indent="0">
              <a:buNone/>
            </a:pPr>
            <a:r>
              <a:rPr lang="en-US" sz="4800" dirty="0">
                <a:solidFill>
                  <a:schemeClr val="tx1"/>
                </a:solidFill>
                <a:latin typeface="+mj-lt" pitchFamily="34" charset="0"/>
                <a:ea typeface="+mj-lt" pitchFamily="34" charset="-122"/>
                <a:cs typeface="+mj-lt" pitchFamily="34" charset="-120"/>
              </a:rPr>
              <a:t>1.1M</a:t>
            </a:r>
            <a:endParaRPr lang="en-US" sz="4800" dirty="0"/>
          </a:p>
        </p:txBody>
      </p:sp>
      <p:sp>
        <p:nvSpPr>
          <p:cNvPr id="10" name="Market caption 3"/>
          <p:cNvSpPr txBox="1"/>
          <p:nvPr/>
        </p:nvSpPr>
        <p:spPr>
          <a:xfrm>
            <a:off x="548640" y="5166360"/>
            <a:ext cx="4023360" cy="457200"/>
          </a:xfrm>
          <a:prstGeom prst="rect">
            <a:avLst/>
          </a:prstGeom>
          <a:noFill/>
          <a:ln/>
        </p:spPr>
        <p:txBody>
          <a:bodyPr wrap="square" lIns="0" tIns="0" rIns="0" bIns="0" rtlCol="0" anchor="t"/>
          <a:lstStyle/>
          <a:p>
            <a:pPr marL="0" indent="0">
              <a:buNone/>
            </a:pPr>
            <a:r>
              <a:rPr lang="en-US" sz="1400" dirty="0">
                <a:solidFill>
                  <a:schemeClr val="tx2"/>
                </a:solidFill>
              </a:rPr>
              <a:t>independent contractors, 7.6% of everyone employed</a:t>
            </a:r>
            <a:endParaRPr lang="en-US" sz="1400" dirty="0"/>
          </a:p>
        </p:txBody>
      </p:sp>
      <p:sp>
        <p:nvSpPr>
          <p:cNvPr id="11" name="Map card"/>
          <p:cNvSpPr/>
          <p:nvPr/>
        </p:nvSpPr>
        <p:spPr>
          <a:xfrm>
            <a:off x="5074920" y="1600200"/>
            <a:ext cx="6568135" cy="4069080"/>
          </a:xfrm>
          <a:prstGeom prst="roundRect">
            <a:avLst>
              <a:gd name="adj" fmla="val 269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2" name="Map caption"/>
          <p:cNvSpPr txBox="1"/>
          <p:nvPr/>
        </p:nvSpPr>
        <p:spPr>
          <a:xfrm>
            <a:off x="5394960" y="1810512"/>
            <a:ext cx="5943600" cy="274320"/>
          </a:xfrm>
          <a:prstGeom prst="rect">
            <a:avLst/>
          </a:prstGeom>
          <a:noFill/>
          <a:ln/>
        </p:spPr>
        <p:txBody>
          <a:bodyPr wrap="square" lIns="0" tIns="0" rIns="0" bIns="0" rtlCol="0" anchor="t"/>
          <a:lstStyle/>
          <a:p>
            <a:pPr marL="0" indent="0">
              <a:buNone/>
            </a:pPr>
            <a:r>
              <a:rPr lang="en-US" sz="1400" dirty="0">
                <a:solidFill>
                  <a:schemeClr val="tx2"/>
                </a:solidFill>
              </a:rPr>
              <a:t>Actively trading businesses by state and territory</a:t>
            </a:r>
            <a:endParaRPr lang="en-US" sz="1400" dirty="0"/>
          </a:p>
        </p:txBody>
      </p:sp>
      <p:pic>
        <p:nvPicPr>
          <p:cNvPr id="13" name="Australia map" descr="C:\Projects\zenith-hackathon\pitch\au-map.png"/>
          <p:cNvPicPr>
            <a:picLocks noChangeAspect="1"/>
          </p:cNvPicPr>
          <p:nvPr/>
        </p:nvPicPr>
        <p:blipFill>
          <a:blip r:embed="rId3"/>
          <a:stretch>
            <a:fillRect/>
          </a:stretch>
        </p:blipFill>
        <p:spPr>
          <a:xfrm>
            <a:off x="6254496" y="2176272"/>
            <a:ext cx="3561347" cy="3383280"/>
          </a:xfrm>
          <a:prstGeom prst="rect">
            <a:avLst/>
          </a:prstGeom>
        </p:spPr>
      </p:pic>
      <p:sp>
        <p:nvSpPr>
          <p:cNvPr id="14" name="NSW label"/>
          <p:cNvSpPr txBox="1"/>
          <p:nvPr/>
        </p:nvSpPr>
        <p:spPr>
          <a:xfrm>
            <a:off x="8805001" y="4147336"/>
            <a:ext cx="914400" cy="457200"/>
          </a:xfrm>
          <a:prstGeom prst="rect">
            <a:avLst/>
          </a:prstGeom>
          <a:noFill/>
          <a:ln/>
        </p:spPr>
        <p:txBody>
          <a:bodyPr wrap="square" lIns="0" tIns="0" rIns="0" bIns="0" rtlCol="0" anchor="ctr"/>
          <a:lstStyle/>
          <a:p>
            <a:pPr marL="0" indent="0" algn="ctr">
              <a:buNone/>
            </a:pPr>
            <a:r>
              <a:rPr lang="en-US" sz="1200" b="1" dirty="0">
                <a:solidFill>
                  <a:schemeClr val="bg1"/>
                </a:solidFill>
              </a:rPr>
              <a:t>NSW</a:t>
            </a:r>
            <a:endParaRPr lang="en-US" sz="1200" dirty="0"/>
          </a:p>
          <a:p>
            <a:pPr marL="0" indent="0" algn="ctr">
              <a:buNone/>
            </a:pPr>
            <a:r>
              <a:rPr lang="en-US" sz="1400" dirty="0">
                <a:solidFill>
                  <a:schemeClr val="bg1"/>
                </a:solidFill>
                <a:latin typeface="+mj-lt" pitchFamily="34" charset="0"/>
                <a:ea typeface="+mj-lt" pitchFamily="34" charset="-122"/>
                <a:cs typeface="+mj-lt" pitchFamily="34" charset="-120"/>
              </a:rPr>
              <a:t>943K</a:t>
            </a:r>
            <a:endParaRPr lang="en-US" sz="1200" dirty="0"/>
          </a:p>
        </p:txBody>
      </p:sp>
      <p:sp>
        <p:nvSpPr>
          <p:cNvPr id="15" name="VIC leader"/>
          <p:cNvSpPr/>
          <p:nvPr/>
        </p:nvSpPr>
        <p:spPr>
          <a:xfrm flipV="1">
            <a:off x="8526057" y="4909236"/>
            <a:ext cx="420624" cy="384048"/>
          </a:xfrm>
          <a:prstGeom prst="line">
            <a:avLst/>
          </a:prstGeom>
          <a:noFill/>
          <a:ln w="9525">
            <a:solidFill>
              <a:srgbClr val="5B6782"/>
            </a:solidFill>
            <a:prstDash val="solid"/>
          </a:ln>
        </p:spPr>
        <p:txBody>
          <a:bodyPr/>
          <a:lstStyle/>
          <a:p>
            <a:endParaRPr lang="en-AU"/>
          </a:p>
        </p:txBody>
      </p:sp>
      <p:sp>
        <p:nvSpPr>
          <p:cNvPr id="16" name="VIC label"/>
          <p:cNvSpPr txBox="1"/>
          <p:nvPr/>
        </p:nvSpPr>
        <p:spPr>
          <a:xfrm>
            <a:off x="7474497" y="5174412"/>
            <a:ext cx="1024128" cy="237744"/>
          </a:xfrm>
          <a:prstGeom prst="rect">
            <a:avLst/>
          </a:prstGeom>
          <a:noFill/>
          <a:ln/>
        </p:spPr>
        <p:txBody>
          <a:bodyPr wrap="square" lIns="0" tIns="0" rIns="0" bIns="0" rtlCol="0" anchor="ctr"/>
          <a:lstStyle/>
          <a:p>
            <a:pPr marL="0" indent="0" algn="r">
              <a:buNone/>
            </a:pPr>
            <a:r>
              <a:rPr lang="en-US" sz="1200" b="1" dirty="0">
                <a:solidFill>
                  <a:schemeClr val="tx1"/>
                </a:solidFill>
              </a:rPr>
              <a:t>VIC </a:t>
            </a:r>
            <a:r>
              <a:rPr lang="en-US" sz="1200" dirty="0">
                <a:solidFill>
                  <a:schemeClr val="tx1"/>
                </a:solidFill>
              </a:rPr>
              <a:t>774K</a:t>
            </a:r>
            <a:endParaRPr lang="en-US" sz="1200" dirty="0"/>
          </a:p>
        </p:txBody>
      </p:sp>
      <p:sp>
        <p:nvSpPr>
          <p:cNvPr id="17" name="QLD label"/>
          <p:cNvSpPr txBox="1"/>
          <p:nvPr/>
        </p:nvSpPr>
        <p:spPr>
          <a:xfrm>
            <a:off x="8545947" y="3266343"/>
            <a:ext cx="914400" cy="457200"/>
          </a:xfrm>
          <a:prstGeom prst="rect">
            <a:avLst/>
          </a:prstGeom>
          <a:noFill/>
          <a:ln/>
        </p:spPr>
        <p:txBody>
          <a:bodyPr wrap="square" lIns="0" tIns="0" rIns="0" bIns="0" rtlCol="0" anchor="ctr"/>
          <a:lstStyle/>
          <a:p>
            <a:pPr marL="0" indent="0" algn="ctr">
              <a:buNone/>
            </a:pPr>
            <a:r>
              <a:rPr lang="en-US" sz="1200" b="1" dirty="0">
                <a:solidFill>
                  <a:schemeClr val="bg1"/>
                </a:solidFill>
              </a:rPr>
              <a:t>QLD</a:t>
            </a:r>
            <a:endParaRPr lang="en-US" sz="1200" dirty="0"/>
          </a:p>
          <a:p>
            <a:pPr marL="0" indent="0" algn="ctr">
              <a:buNone/>
            </a:pPr>
            <a:r>
              <a:rPr lang="en-US" sz="1400" dirty="0">
                <a:solidFill>
                  <a:schemeClr val="bg1"/>
                </a:solidFill>
                <a:latin typeface="+mj-lt" pitchFamily="34" charset="0"/>
                <a:ea typeface="+mj-lt" pitchFamily="34" charset="-122"/>
                <a:cs typeface="+mj-lt" pitchFamily="34" charset="-120"/>
              </a:rPr>
              <a:t>543K</a:t>
            </a:r>
            <a:endParaRPr lang="en-US" sz="1200" dirty="0"/>
          </a:p>
        </p:txBody>
      </p:sp>
      <p:sp>
        <p:nvSpPr>
          <p:cNvPr id="18" name="SA label"/>
          <p:cNvSpPr txBox="1"/>
          <p:nvPr/>
        </p:nvSpPr>
        <p:spPr>
          <a:xfrm>
            <a:off x="7796889" y="3990801"/>
            <a:ext cx="914400" cy="457200"/>
          </a:xfrm>
          <a:prstGeom prst="rect">
            <a:avLst/>
          </a:prstGeom>
          <a:noFill/>
          <a:ln/>
        </p:spPr>
        <p:txBody>
          <a:bodyPr wrap="square" lIns="0" tIns="0" rIns="0" bIns="0" rtlCol="0" anchor="ctr"/>
          <a:lstStyle/>
          <a:p>
            <a:pPr marL="0" indent="0" algn="ctr">
              <a:buNone/>
            </a:pPr>
            <a:r>
              <a:rPr lang="en-US" sz="1200" b="1" dirty="0">
                <a:solidFill>
                  <a:schemeClr val="bg1"/>
                </a:solidFill>
              </a:rPr>
              <a:t>SA</a:t>
            </a:r>
            <a:endParaRPr lang="en-US" sz="1200" dirty="0"/>
          </a:p>
          <a:p>
            <a:pPr marL="0" indent="0" algn="ctr">
              <a:buNone/>
            </a:pPr>
            <a:r>
              <a:rPr lang="en-US" sz="1400" dirty="0">
                <a:solidFill>
                  <a:schemeClr val="bg1"/>
                </a:solidFill>
                <a:latin typeface="+mj-lt" pitchFamily="34" charset="0"/>
                <a:ea typeface="+mj-lt" pitchFamily="34" charset="-122"/>
                <a:cs typeface="+mj-lt" pitchFamily="34" charset="-120"/>
              </a:rPr>
              <a:t>174K</a:t>
            </a:r>
            <a:endParaRPr lang="en-US" sz="1200" dirty="0"/>
          </a:p>
        </p:txBody>
      </p:sp>
      <p:sp>
        <p:nvSpPr>
          <p:cNvPr id="19" name="WA label"/>
          <p:cNvSpPr txBox="1"/>
          <p:nvPr/>
        </p:nvSpPr>
        <p:spPr>
          <a:xfrm>
            <a:off x="6623652" y="3546147"/>
            <a:ext cx="914400" cy="457200"/>
          </a:xfrm>
          <a:prstGeom prst="rect">
            <a:avLst/>
          </a:prstGeom>
          <a:noFill/>
          <a:ln/>
        </p:spPr>
        <p:txBody>
          <a:bodyPr wrap="square" lIns="0" tIns="0" rIns="0" bIns="0" rtlCol="0" anchor="ctr"/>
          <a:lstStyle/>
          <a:p>
            <a:pPr marL="0" indent="0" algn="ctr">
              <a:buNone/>
            </a:pPr>
            <a:r>
              <a:rPr lang="en-US" sz="1200" b="1" dirty="0">
                <a:solidFill>
                  <a:schemeClr val="bg1"/>
                </a:solidFill>
              </a:rPr>
              <a:t>WA</a:t>
            </a:r>
            <a:endParaRPr lang="en-US" sz="1200" dirty="0"/>
          </a:p>
          <a:p>
            <a:pPr marL="0" indent="0" algn="ctr">
              <a:buNone/>
            </a:pPr>
            <a:r>
              <a:rPr lang="en-US" sz="1400" dirty="0">
                <a:solidFill>
                  <a:schemeClr val="bg1"/>
                </a:solidFill>
                <a:latin typeface="+mj-lt" pitchFamily="34" charset="0"/>
                <a:ea typeface="+mj-lt" pitchFamily="34" charset="-122"/>
                <a:cs typeface="+mj-lt" pitchFamily="34" charset="-120"/>
              </a:rPr>
              <a:t>279K</a:t>
            </a:r>
            <a:endParaRPr lang="en-US" sz="1200" dirty="0"/>
          </a:p>
        </p:txBody>
      </p:sp>
      <p:sp>
        <p:nvSpPr>
          <p:cNvPr id="20" name="TAS leader"/>
          <p:cNvSpPr/>
          <p:nvPr/>
        </p:nvSpPr>
        <p:spPr>
          <a:xfrm>
            <a:off x="9215606" y="5371047"/>
            <a:ext cx="429768" cy="0"/>
          </a:xfrm>
          <a:prstGeom prst="line">
            <a:avLst/>
          </a:prstGeom>
          <a:noFill/>
          <a:ln w="9525">
            <a:solidFill>
              <a:srgbClr val="5B6782"/>
            </a:solidFill>
            <a:prstDash val="solid"/>
          </a:ln>
        </p:spPr>
        <p:txBody>
          <a:bodyPr/>
          <a:lstStyle/>
          <a:p>
            <a:endParaRPr lang="en-AU"/>
          </a:p>
        </p:txBody>
      </p:sp>
      <p:sp>
        <p:nvSpPr>
          <p:cNvPr id="21" name="TAS label"/>
          <p:cNvSpPr txBox="1"/>
          <p:nvPr/>
        </p:nvSpPr>
        <p:spPr>
          <a:xfrm>
            <a:off x="9681950" y="5206455"/>
            <a:ext cx="1005840" cy="237744"/>
          </a:xfrm>
          <a:prstGeom prst="rect">
            <a:avLst/>
          </a:prstGeom>
          <a:noFill/>
          <a:ln/>
        </p:spPr>
        <p:txBody>
          <a:bodyPr wrap="square" lIns="0" tIns="0" rIns="0" bIns="0" rtlCol="0" anchor="ctr"/>
          <a:lstStyle/>
          <a:p>
            <a:pPr marL="0" indent="0">
              <a:buNone/>
            </a:pPr>
            <a:r>
              <a:rPr lang="en-US" sz="1200" b="1" dirty="0">
                <a:solidFill>
                  <a:schemeClr val="tx1"/>
                </a:solidFill>
              </a:rPr>
              <a:t>TAS </a:t>
            </a:r>
            <a:r>
              <a:rPr lang="en-US" sz="1200" dirty="0">
                <a:solidFill>
                  <a:schemeClr val="tx1"/>
                </a:solidFill>
              </a:rPr>
              <a:t>45K</a:t>
            </a:r>
            <a:endParaRPr lang="en-US" sz="1200" dirty="0"/>
          </a:p>
        </p:txBody>
      </p:sp>
      <p:sp>
        <p:nvSpPr>
          <p:cNvPr id="22" name="NT label"/>
          <p:cNvSpPr txBox="1"/>
          <p:nvPr/>
        </p:nvSpPr>
        <p:spPr>
          <a:xfrm>
            <a:off x="7585779" y="2967478"/>
            <a:ext cx="914400" cy="457200"/>
          </a:xfrm>
          <a:prstGeom prst="rect">
            <a:avLst/>
          </a:prstGeom>
          <a:noFill/>
          <a:ln/>
        </p:spPr>
        <p:txBody>
          <a:bodyPr wrap="square" lIns="0" tIns="0" rIns="0" bIns="0" rtlCol="0" anchor="ctr"/>
          <a:lstStyle/>
          <a:p>
            <a:pPr marL="0" indent="0" algn="ctr">
              <a:buNone/>
            </a:pPr>
            <a:r>
              <a:rPr lang="en-US" sz="1200" b="1" dirty="0">
                <a:solidFill>
                  <a:schemeClr val="tx1"/>
                </a:solidFill>
              </a:rPr>
              <a:t>NT</a:t>
            </a:r>
            <a:endParaRPr lang="en-US" sz="1200" dirty="0"/>
          </a:p>
          <a:p>
            <a:pPr marL="0" indent="0" algn="ctr">
              <a:buNone/>
            </a:pPr>
            <a:r>
              <a:rPr lang="en-US" sz="1400" dirty="0">
                <a:solidFill>
                  <a:schemeClr val="tx1"/>
                </a:solidFill>
                <a:latin typeface="+mj-lt" pitchFamily="34" charset="0"/>
                <a:ea typeface="+mj-lt" pitchFamily="34" charset="-122"/>
                <a:cs typeface="+mj-lt" pitchFamily="34" charset="-120"/>
              </a:rPr>
              <a:t>17K</a:t>
            </a:r>
            <a:endParaRPr lang="en-US" sz="1200" dirty="0"/>
          </a:p>
        </p:txBody>
      </p:sp>
      <p:sp>
        <p:nvSpPr>
          <p:cNvPr id="23" name="ACT leader"/>
          <p:cNvSpPr/>
          <p:nvPr/>
        </p:nvSpPr>
        <p:spPr>
          <a:xfrm>
            <a:off x="9423949" y="4741547"/>
            <a:ext cx="492478" cy="0"/>
          </a:xfrm>
          <a:prstGeom prst="line">
            <a:avLst/>
          </a:prstGeom>
          <a:noFill/>
          <a:ln w="9525">
            <a:solidFill>
              <a:srgbClr val="5B6782"/>
            </a:solidFill>
            <a:prstDash val="solid"/>
          </a:ln>
        </p:spPr>
        <p:txBody>
          <a:bodyPr/>
          <a:lstStyle/>
          <a:p>
            <a:endParaRPr lang="en-AU"/>
          </a:p>
        </p:txBody>
      </p:sp>
      <p:sp>
        <p:nvSpPr>
          <p:cNvPr id="24" name="ACT label"/>
          <p:cNvSpPr txBox="1"/>
          <p:nvPr/>
        </p:nvSpPr>
        <p:spPr>
          <a:xfrm>
            <a:off x="9953003" y="4631819"/>
            <a:ext cx="1005840" cy="237744"/>
          </a:xfrm>
          <a:prstGeom prst="rect">
            <a:avLst/>
          </a:prstGeom>
          <a:noFill/>
          <a:ln/>
        </p:spPr>
        <p:txBody>
          <a:bodyPr wrap="square" lIns="0" tIns="0" rIns="0" bIns="0" rtlCol="0" anchor="ctr"/>
          <a:lstStyle/>
          <a:p>
            <a:pPr marL="0" indent="0">
              <a:buNone/>
            </a:pPr>
            <a:r>
              <a:rPr lang="en-US" sz="1200" b="1" dirty="0">
                <a:solidFill>
                  <a:schemeClr val="tx1"/>
                </a:solidFill>
              </a:rPr>
              <a:t>ACT </a:t>
            </a:r>
            <a:r>
              <a:rPr lang="en-US" sz="1200" dirty="0">
                <a:solidFill>
                  <a:schemeClr val="tx1"/>
                </a:solidFill>
              </a:rPr>
              <a:t>38K</a:t>
            </a:r>
            <a:endParaRPr lang="en-US" sz="1200" dirty="0"/>
          </a:p>
        </p:txBody>
      </p:sp>
      <p:sp>
        <p:nvSpPr>
          <p:cNvPr id="25"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Sources: ABS, Counts of Australian Businesses, June 2026 (released Aug 2026). ABS, Working Arrangements, August 2025.</a:t>
            </a:r>
            <a:endParaRPr lang="en-US" sz="1000" dirty="0"/>
          </a:p>
        </p:txBody>
      </p:sp>
      <p:sp>
        <p:nvSpPr>
          <p:cNvPr id="26"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THE ALTERNATIVES</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Incumbent software keeps getting dearer</a:t>
            </a:r>
            <a:endParaRPr lang="en-US" sz="3200" dirty="0"/>
          </a:p>
        </p:txBody>
      </p:sp>
      <p:sp>
        <p:nvSpPr>
          <p:cNvPr id="5" name="Pricing card"/>
          <p:cNvSpPr/>
          <p:nvPr/>
        </p:nvSpPr>
        <p:spPr>
          <a:xfrm>
            <a:off x="548640" y="1600200"/>
            <a:ext cx="6812280" cy="4069080"/>
          </a:xfrm>
          <a:prstGeom prst="roundRect">
            <a:avLst>
              <a:gd name="adj" fmla="val 269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graphicFrame>
        <p:nvGraphicFramePr>
          <p:cNvPr id="6" name="Pricing chart"/>
          <p:cNvGraphicFramePr/>
          <p:nvPr/>
        </p:nvGraphicFramePr>
        <p:xfrm>
          <a:off x="777240" y="1783080"/>
          <a:ext cx="64008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Kydi price card"/>
          <p:cNvSpPr/>
          <p:nvPr/>
        </p:nvSpPr>
        <p:spPr>
          <a:xfrm>
            <a:off x="7680960" y="1600200"/>
            <a:ext cx="3962095" cy="2331720"/>
          </a:xfrm>
          <a:prstGeom prst="roundRect">
            <a:avLst>
              <a:gd name="adj" fmla="val 4706"/>
            </a:avLst>
          </a:prstGeom>
          <a:solidFill>
            <a:schemeClr val="accent2"/>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8" name="Kydi price label"/>
          <p:cNvSpPr txBox="1"/>
          <p:nvPr/>
        </p:nvSpPr>
        <p:spPr>
          <a:xfrm>
            <a:off x="8001000" y="1828800"/>
            <a:ext cx="1828800" cy="256032"/>
          </a:xfrm>
          <a:prstGeom prst="rect">
            <a:avLst/>
          </a:prstGeom>
          <a:noFill/>
          <a:ln/>
        </p:spPr>
        <p:txBody>
          <a:bodyPr wrap="square" lIns="0" tIns="0" rIns="0" bIns="0" rtlCol="0" anchor="t"/>
          <a:lstStyle/>
          <a:p>
            <a:pPr marL="0" indent="0">
              <a:buNone/>
            </a:pPr>
            <a:r>
              <a:rPr lang="en-US" sz="1200" b="1" kern="0" spc="150" dirty="0">
                <a:solidFill>
                  <a:schemeClr val="accent3"/>
                </a:solidFill>
              </a:rPr>
              <a:t>KYDI</a:t>
            </a:r>
            <a:endParaRPr lang="en-US" sz="1200" dirty="0"/>
          </a:p>
        </p:txBody>
      </p:sp>
      <p:sp>
        <p:nvSpPr>
          <p:cNvPr id="9" name="Kydi price"/>
          <p:cNvSpPr txBox="1"/>
          <p:nvPr/>
        </p:nvSpPr>
        <p:spPr>
          <a:xfrm>
            <a:off x="8001000" y="2057400"/>
            <a:ext cx="3322015" cy="868680"/>
          </a:xfrm>
          <a:prstGeom prst="rect">
            <a:avLst/>
          </a:prstGeom>
          <a:noFill/>
          <a:ln/>
        </p:spPr>
        <p:txBody>
          <a:bodyPr wrap="square" lIns="0" tIns="0" rIns="0" bIns="0" rtlCol="0" anchor="b"/>
          <a:lstStyle/>
          <a:p>
            <a:pPr marL="0" indent="0">
              <a:buNone/>
            </a:pPr>
            <a:r>
              <a:rPr lang="en-US" sz="6000" dirty="0">
                <a:solidFill>
                  <a:schemeClr val="bg1"/>
                </a:solidFill>
                <a:latin typeface="+mj-lt" pitchFamily="34" charset="0"/>
                <a:ea typeface="+mj-lt" pitchFamily="34" charset="-122"/>
                <a:cs typeface="+mj-lt" pitchFamily="34" charset="-120"/>
              </a:rPr>
              <a:t>$0</a:t>
            </a:r>
            <a:endParaRPr lang="en-US" sz="6000" dirty="0"/>
          </a:p>
        </p:txBody>
      </p:sp>
      <p:sp>
        <p:nvSpPr>
          <p:cNvPr id="10" name="Kydi price caption"/>
          <p:cNvSpPr txBox="1"/>
          <p:nvPr/>
        </p:nvSpPr>
        <p:spPr>
          <a:xfrm>
            <a:off x="8001000" y="3017520"/>
            <a:ext cx="3322015" cy="731520"/>
          </a:xfrm>
          <a:prstGeom prst="rect">
            <a:avLst/>
          </a:prstGeom>
          <a:noFill/>
          <a:ln/>
        </p:spPr>
        <p:txBody>
          <a:bodyPr wrap="square" lIns="0" tIns="0" rIns="0" bIns="0" rtlCol="0" anchor="t"/>
          <a:lstStyle/>
          <a:p>
            <a:pPr marL="0" indent="0">
              <a:buNone/>
            </a:pPr>
            <a:r>
              <a:rPr lang="en-US" sz="1400" dirty="0">
                <a:solidFill>
                  <a:schemeClr val="bg1"/>
                </a:solidFill>
              </a:rPr>
              <a:t>MIT licence, your own server, unlimited invoices, users and companies</a:t>
            </a:r>
            <a:endParaRPr lang="en-US" sz="1400" dirty="0"/>
          </a:p>
        </p:txBody>
      </p:sp>
      <p:sp>
        <p:nvSpPr>
          <p:cNvPr id="11" name="Price rise card"/>
          <p:cNvSpPr/>
          <p:nvPr/>
        </p:nvSpPr>
        <p:spPr>
          <a:xfrm>
            <a:off x="7680960" y="4206240"/>
            <a:ext cx="3962095" cy="1463040"/>
          </a:xfrm>
          <a:prstGeom prst="roundRect">
            <a:avLst>
              <a:gd name="adj" fmla="val 7500"/>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2" name="Price rise label"/>
          <p:cNvSpPr txBox="1"/>
          <p:nvPr/>
        </p:nvSpPr>
        <p:spPr>
          <a:xfrm>
            <a:off x="8001000" y="4389120"/>
            <a:ext cx="3322015" cy="256032"/>
          </a:xfrm>
          <a:prstGeom prst="rect">
            <a:avLst/>
          </a:prstGeom>
          <a:noFill/>
          <a:ln/>
        </p:spPr>
        <p:txBody>
          <a:bodyPr wrap="square" lIns="0" tIns="0" rIns="0" bIns="0" rtlCol="0" anchor="t"/>
          <a:lstStyle/>
          <a:p>
            <a:pPr marL="0" indent="0">
              <a:buNone/>
            </a:pPr>
            <a:r>
              <a:rPr lang="en-US" sz="1200" b="1" dirty="0">
                <a:solidFill>
                  <a:schemeClr val="tx2"/>
                </a:solidFill>
              </a:rPr>
              <a:t>Xero Comprehensive, July 2026</a:t>
            </a:r>
            <a:endParaRPr lang="en-US" sz="1200" dirty="0"/>
          </a:p>
        </p:txBody>
      </p:sp>
      <p:sp>
        <p:nvSpPr>
          <p:cNvPr id="13" name="Price rise figure"/>
          <p:cNvSpPr txBox="1"/>
          <p:nvPr/>
        </p:nvSpPr>
        <p:spPr>
          <a:xfrm>
            <a:off x="8001000" y="4645152"/>
            <a:ext cx="3322015" cy="548640"/>
          </a:xfrm>
          <a:prstGeom prst="rect">
            <a:avLst/>
          </a:prstGeom>
          <a:noFill/>
          <a:ln/>
        </p:spPr>
        <p:txBody>
          <a:bodyPr wrap="square" lIns="0" tIns="0" rIns="0" bIns="0" rtlCol="0" anchor="ctr"/>
          <a:lstStyle/>
          <a:p>
            <a:pPr marL="0" indent="0">
              <a:buNone/>
            </a:pPr>
            <a:r>
              <a:rPr lang="en-US" sz="3000" dirty="0">
                <a:solidFill>
                  <a:schemeClr val="tx2"/>
                </a:solidFill>
                <a:latin typeface="+mj-lt" pitchFamily="34" charset="0"/>
                <a:ea typeface="+mj-lt" pitchFamily="34" charset="-122"/>
                <a:cs typeface="+mj-lt" pitchFamily="34" charset="-120"/>
              </a:rPr>
              <a:t>$100</a:t>
            </a:r>
            <a:r>
              <a:rPr lang="en-US" sz="3000" dirty="0">
                <a:solidFill>
                  <a:schemeClr val="accent5"/>
                </a:solidFill>
                <a:latin typeface="+mj-lt" pitchFamily="34" charset="0"/>
                <a:ea typeface="+mj-lt" pitchFamily="34" charset="-122"/>
                <a:cs typeface="+mj-lt" pitchFamily="34" charset="-120"/>
              </a:rPr>
              <a:t>  →  </a:t>
            </a:r>
            <a:r>
              <a:rPr lang="en-US" sz="3000" dirty="0">
                <a:solidFill>
                  <a:schemeClr val="tx1"/>
                </a:solidFill>
                <a:latin typeface="+mj-lt" pitchFamily="34" charset="0"/>
                <a:ea typeface="+mj-lt" pitchFamily="34" charset="-122"/>
                <a:cs typeface="+mj-lt" pitchFamily="34" charset="-120"/>
              </a:rPr>
              <a:t>$107</a:t>
            </a:r>
            <a:r>
              <a:rPr lang="en-US" sz="1400" dirty="0">
                <a:solidFill>
                  <a:schemeClr val="tx2"/>
                </a:solidFill>
                <a:latin typeface="+mn-lt" pitchFamily="34" charset="0"/>
                <a:ea typeface="+mn-lt" pitchFamily="34" charset="-122"/>
                <a:cs typeface="+mn-lt" pitchFamily="34" charset="-120"/>
              </a:rPr>
              <a:t> a month</a:t>
            </a:r>
            <a:endParaRPr lang="en-US" sz="3000" dirty="0"/>
          </a:p>
        </p:txBody>
      </p:sp>
      <p:sp>
        <p:nvSpPr>
          <p:cNvPr id="14" name="Price rise caption"/>
          <p:cNvSpPr txBox="1"/>
          <p:nvPr/>
        </p:nvSpPr>
        <p:spPr>
          <a:xfrm>
            <a:off x="8001000" y="5193792"/>
            <a:ext cx="3322015" cy="274320"/>
          </a:xfrm>
          <a:prstGeom prst="rect">
            <a:avLst/>
          </a:prstGeom>
          <a:noFill/>
          <a:ln/>
        </p:spPr>
        <p:txBody>
          <a:bodyPr wrap="square" lIns="0" tIns="0" rIns="0" bIns="0" rtlCol="0" anchor="t"/>
          <a:lstStyle/>
          <a:p>
            <a:pPr marL="0" indent="0">
              <a:buNone/>
            </a:pPr>
            <a:r>
              <a:rPr lang="en-US" sz="1200" dirty="0">
                <a:solidFill>
                  <a:schemeClr val="tx2"/>
                </a:solidFill>
              </a:rPr>
              <a:t>The third Xero price rise in recent years</a:t>
            </a:r>
            <a:endParaRPr lang="en-US" sz="1200" dirty="0"/>
          </a:p>
        </p:txBody>
      </p:sp>
      <p:sp>
        <p:nvSpPr>
          <p:cNvPr id="15"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Sources: vendor pricing pages, Oct 2026, AUD before promotions; MYOB Lite billed $315 a year. Xero Ignite/Grow and QuickBooks via Rounded, 2026.</a:t>
            </a:r>
            <a:endParaRPr lang="en-US" sz="1000" dirty="0"/>
          </a:p>
        </p:txBody>
      </p:sp>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THE PRODUCT</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One app for the whole billing loop</a:t>
            </a:r>
            <a:endParaRPr lang="en-US" sz="3200" dirty="0"/>
          </a:p>
        </p:txBody>
      </p:sp>
      <p:sp>
        <p:nvSpPr>
          <p:cNvPr id="5" name="Stepper line"/>
          <p:cNvSpPr/>
          <p:nvPr/>
        </p:nvSpPr>
        <p:spPr>
          <a:xfrm>
            <a:off x="740664" y="1929384"/>
            <a:ext cx="0" cy="3291840"/>
          </a:xfrm>
          <a:prstGeom prst="line">
            <a:avLst/>
          </a:prstGeom>
          <a:noFill/>
          <a:ln w="25400">
            <a:solidFill>
              <a:srgbClr val="8DB8FF"/>
            </a:solidFill>
            <a:prstDash val="solid"/>
          </a:ln>
        </p:spPr>
        <p:txBody>
          <a:bodyPr/>
          <a:lstStyle/>
          <a:p>
            <a:endParaRPr lang="en-AU"/>
          </a:p>
        </p:txBody>
      </p:sp>
      <p:sp>
        <p:nvSpPr>
          <p:cNvPr id="6" name="Step 1 marker"/>
          <p:cNvSpPr/>
          <p:nvPr/>
        </p:nvSpPr>
        <p:spPr>
          <a:xfrm>
            <a:off x="548640" y="1737360"/>
            <a:ext cx="384048" cy="384048"/>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Step 1"/>
          <p:cNvSpPr txBox="1"/>
          <p:nvPr/>
        </p:nvSpPr>
        <p:spPr>
          <a:xfrm>
            <a:off x="1115568" y="1700784"/>
            <a:ext cx="3246120" cy="77724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Quote</a:t>
            </a:r>
            <a:endParaRPr lang="en-US" sz="1700" dirty="0"/>
          </a:p>
          <a:p>
            <a:pPr marL="0" indent="0">
              <a:spcAft>
                <a:spcPts val="100"/>
              </a:spcAft>
              <a:buNone/>
            </a:pPr>
            <a:r>
              <a:rPr lang="en-US" sz="1400" dirty="0">
                <a:solidFill>
                  <a:schemeClr val="tx2"/>
                </a:solidFill>
              </a:rPr>
              <a:t>Customers accept online</a:t>
            </a:r>
            <a:endParaRPr lang="en-US" sz="1700" dirty="0"/>
          </a:p>
        </p:txBody>
      </p:sp>
      <p:sp>
        <p:nvSpPr>
          <p:cNvPr id="8" name="Step 2 marker"/>
          <p:cNvSpPr/>
          <p:nvPr/>
        </p:nvSpPr>
        <p:spPr>
          <a:xfrm>
            <a:off x="548640" y="2560320"/>
            <a:ext cx="384048" cy="384048"/>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Step 2"/>
          <p:cNvSpPr txBox="1"/>
          <p:nvPr/>
        </p:nvSpPr>
        <p:spPr>
          <a:xfrm>
            <a:off x="1115568" y="2523744"/>
            <a:ext cx="3246120" cy="77724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Invoice</a:t>
            </a:r>
            <a:endParaRPr lang="en-US" sz="1700" dirty="0"/>
          </a:p>
          <a:p>
            <a:pPr marL="0" indent="0">
              <a:spcAft>
                <a:spcPts val="100"/>
              </a:spcAft>
              <a:buNone/>
            </a:pPr>
            <a:r>
              <a:rPr lang="en-US" sz="1400" dirty="0">
                <a:solidFill>
                  <a:schemeClr val="tx2"/>
                </a:solidFill>
              </a:rPr>
              <a:t>One click, or on a schedule</a:t>
            </a:r>
            <a:endParaRPr lang="en-US" sz="1700" dirty="0"/>
          </a:p>
        </p:txBody>
      </p:sp>
      <p:sp>
        <p:nvSpPr>
          <p:cNvPr id="10" name="Step 3 marker"/>
          <p:cNvSpPr/>
          <p:nvPr/>
        </p:nvSpPr>
        <p:spPr>
          <a:xfrm>
            <a:off x="548640" y="3383280"/>
            <a:ext cx="384048" cy="384048"/>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1" name="Step 3"/>
          <p:cNvSpPr txBox="1"/>
          <p:nvPr/>
        </p:nvSpPr>
        <p:spPr>
          <a:xfrm>
            <a:off x="1115568" y="3346704"/>
            <a:ext cx="3246120" cy="77724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Deliver</a:t>
            </a:r>
            <a:endParaRPr lang="en-US" sz="1700" dirty="0"/>
          </a:p>
          <a:p>
            <a:pPr marL="0" indent="0">
              <a:spcAft>
                <a:spcPts val="100"/>
              </a:spcAft>
              <a:buNone/>
            </a:pPr>
            <a:r>
              <a:rPr lang="en-US" sz="1400" dirty="0">
                <a:solidFill>
                  <a:schemeClr val="tx2"/>
                </a:solidFill>
              </a:rPr>
              <a:t>Emailed, with view tracking</a:t>
            </a:r>
            <a:endParaRPr lang="en-US" sz="1700" dirty="0"/>
          </a:p>
        </p:txBody>
      </p:sp>
      <p:sp>
        <p:nvSpPr>
          <p:cNvPr id="12" name="Step 4 marker"/>
          <p:cNvSpPr/>
          <p:nvPr/>
        </p:nvSpPr>
        <p:spPr>
          <a:xfrm>
            <a:off x="548640" y="4206240"/>
            <a:ext cx="384048" cy="384048"/>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3" name="Step 4"/>
          <p:cNvSpPr txBox="1"/>
          <p:nvPr/>
        </p:nvSpPr>
        <p:spPr>
          <a:xfrm>
            <a:off x="1115568" y="4169664"/>
            <a:ext cx="3246120" cy="77724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Get paid</a:t>
            </a:r>
            <a:endParaRPr lang="en-US" sz="1700" dirty="0"/>
          </a:p>
          <a:p>
            <a:pPr marL="0" indent="0">
              <a:spcAft>
                <a:spcPts val="100"/>
              </a:spcAft>
              <a:buNone/>
            </a:pPr>
            <a:r>
              <a:rPr lang="en-US" sz="1400" dirty="0">
                <a:solidFill>
                  <a:schemeClr val="tx2"/>
                </a:solidFill>
              </a:rPr>
              <a:t>Overdue invoices flagged</a:t>
            </a:r>
            <a:endParaRPr lang="en-US" sz="1700" dirty="0"/>
          </a:p>
        </p:txBody>
      </p:sp>
      <p:sp>
        <p:nvSpPr>
          <p:cNvPr id="14" name="Step 5 marker"/>
          <p:cNvSpPr/>
          <p:nvPr/>
        </p:nvSpPr>
        <p:spPr>
          <a:xfrm>
            <a:off x="548640" y="5029200"/>
            <a:ext cx="384048" cy="384048"/>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5" name="Step 5"/>
          <p:cNvSpPr txBox="1"/>
          <p:nvPr/>
        </p:nvSpPr>
        <p:spPr>
          <a:xfrm>
            <a:off x="1115568" y="4992624"/>
            <a:ext cx="3246120" cy="77724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Report</a:t>
            </a:r>
            <a:endParaRPr lang="en-US" sz="1700" dirty="0"/>
          </a:p>
          <a:p>
            <a:pPr marL="0" indent="0">
              <a:spcAft>
                <a:spcPts val="100"/>
              </a:spcAft>
              <a:buNone/>
            </a:pPr>
            <a:r>
              <a:rPr lang="en-US" sz="1400" dirty="0">
                <a:solidFill>
                  <a:schemeClr val="tx2"/>
                </a:solidFill>
              </a:rPr>
              <a:t>Cash flow, P&amp;L, GST summary</a:t>
            </a:r>
            <a:endParaRPr lang="en-US" sz="1700" dirty="0"/>
          </a:p>
        </p:txBody>
      </p:sp>
      <p:sp>
        <p:nvSpPr>
          <p:cNvPr id="16" name="Browser frame"/>
          <p:cNvSpPr/>
          <p:nvPr/>
        </p:nvSpPr>
        <p:spPr>
          <a:xfrm>
            <a:off x="4526280" y="1600200"/>
            <a:ext cx="7116775" cy="4017550"/>
          </a:xfrm>
          <a:prstGeom prst="roundRect">
            <a:avLst>
              <a:gd name="adj" fmla="val 2276"/>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7" name="Browser dot 1"/>
          <p:cNvSpPr/>
          <p:nvPr/>
        </p:nvSpPr>
        <p:spPr>
          <a:xfrm>
            <a:off x="4709160" y="1705356"/>
            <a:ext cx="100584" cy="100584"/>
          </a:xfrm>
          <a:prstGeom prst="ellipse">
            <a:avLst/>
          </a:prstGeom>
          <a:solidFill>
            <a:schemeClr val="accent4"/>
          </a:solidFill>
          <a:ln/>
        </p:spPr>
        <p:txBody>
          <a:bodyPr/>
          <a:lstStyle/>
          <a:p>
            <a:endParaRPr lang="en-AU"/>
          </a:p>
        </p:txBody>
      </p:sp>
      <p:sp>
        <p:nvSpPr>
          <p:cNvPr id="18" name="Browser dot 2"/>
          <p:cNvSpPr/>
          <p:nvPr/>
        </p:nvSpPr>
        <p:spPr>
          <a:xfrm>
            <a:off x="4892040" y="1705356"/>
            <a:ext cx="100584" cy="100584"/>
          </a:xfrm>
          <a:prstGeom prst="ellipse">
            <a:avLst/>
          </a:prstGeom>
          <a:solidFill>
            <a:schemeClr val="accent4"/>
          </a:solidFill>
          <a:ln/>
        </p:spPr>
        <p:txBody>
          <a:bodyPr/>
          <a:lstStyle/>
          <a:p>
            <a:endParaRPr lang="en-AU"/>
          </a:p>
        </p:txBody>
      </p:sp>
      <p:sp>
        <p:nvSpPr>
          <p:cNvPr id="19" name="Browser dot 3"/>
          <p:cNvSpPr/>
          <p:nvPr/>
        </p:nvSpPr>
        <p:spPr>
          <a:xfrm>
            <a:off x="5074920" y="1705356"/>
            <a:ext cx="100584" cy="100584"/>
          </a:xfrm>
          <a:prstGeom prst="ellipse">
            <a:avLst/>
          </a:prstGeom>
          <a:solidFill>
            <a:schemeClr val="accent4"/>
          </a:solidFill>
          <a:ln/>
        </p:spPr>
        <p:txBody>
          <a:bodyPr/>
          <a:lstStyle/>
          <a:p>
            <a:endParaRPr lang="en-AU"/>
          </a:p>
        </p:txBody>
      </p:sp>
      <p:pic>
        <p:nvPicPr>
          <p:cNvPr id="20" name="Kydi dashboard" descr="C:\Projects\zenith-hackathon\pitch\dashboard-au.png"/>
          <p:cNvPicPr>
            <a:picLocks noChangeAspect="1"/>
          </p:cNvPicPr>
          <p:nvPr/>
        </p:nvPicPr>
        <p:blipFill>
          <a:blip r:embed="rId3"/>
          <a:stretch>
            <a:fillRect/>
          </a:stretch>
        </p:blipFill>
        <p:spPr>
          <a:xfrm>
            <a:off x="4526280" y="1911096"/>
            <a:ext cx="7116775" cy="3706654"/>
          </a:xfrm>
          <a:prstGeom prst="rect">
            <a:avLst/>
          </a:prstGeom>
        </p:spPr>
      </p:pic>
      <p:sp>
        <p:nvSpPr>
          <p:cNvPr id="21"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Kydi dashboard for a Sydney demo company: receivables split into overdue, due soon and later, with cash flow by month.</a:t>
            </a:r>
            <a:endParaRPr lang="en-US" sz="1000" dirty="0"/>
          </a:p>
        </p:txBody>
      </p:sp>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MADE FOR AUSTRALIA</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Built for how Australian businesses invoice</a:t>
            </a:r>
            <a:endParaRPr lang="en-US" sz="3200" dirty="0"/>
          </a:p>
        </p:txBody>
      </p:sp>
      <p:sp>
        <p:nvSpPr>
          <p:cNvPr id="5" name="Invoice card"/>
          <p:cNvSpPr/>
          <p:nvPr/>
        </p:nvSpPr>
        <p:spPr>
          <a:xfrm>
            <a:off x="548640" y="1600200"/>
            <a:ext cx="5586984" cy="4192944"/>
          </a:xfrm>
          <a:prstGeom prst="roundRect">
            <a:avLst>
              <a:gd name="adj" fmla="val 261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pic>
        <p:nvPicPr>
          <p:cNvPr id="6" name="Invoice generated by Kydi" descr="C:\Projects\zenith-hackathon\pitch\invoice-au.png"/>
          <p:cNvPicPr>
            <a:picLocks noChangeAspect="1"/>
          </p:cNvPicPr>
          <p:nvPr/>
        </p:nvPicPr>
        <p:blipFill>
          <a:blip r:embed="rId3"/>
          <a:stretch>
            <a:fillRect/>
          </a:stretch>
        </p:blipFill>
        <p:spPr>
          <a:xfrm>
            <a:off x="804672" y="1828800"/>
            <a:ext cx="5074920" cy="3735744"/>
          </a:xfrm>
          <a:prstGeom prst="rect">
            <a:avLst/>
          </a:prstGeom>
        </p:spPr>
      </p:pic>
      <p:sp>
        <p:nvSpPr>
          <p:cNvPr id="7" name="Marker 1"/>
          <p:cNvSpPr/>
          <p:nvPr/>
        </p:nvSpPr>
        <p:spPr>
          <a:xfrm>
            <a:off x="792328" y="2429146"/>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Marker 2"/>
          <p:cNvSpPr/>
          <p:nvPr/>
        </p:nvSpPr>
        <p:spPr>
          <a:xfrm>
            <a:off x="3202915" y="4688382"/>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Marker 3"/>
          <p:cNvSpPr/>
          <p:nvPr/>
        </p:nvSpPr>
        <p:spPr>
          <a:xfrm>
            <a:off x="3482035" y="2478066"/>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0" name="Point 1 marker"/>
          <p:cNvSpPr/>
          <p:nvPr/>
        </p:nvSpPr>
        <p:spPr>
          <a:xfrm>
            <a:off x="6547104" y="1645920"/>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Point 1"/>
          <p:cNvSpPr txBox="1"/>
          <p:nvPr/>
        </p:nvSpPr>
        <p:spPr>
          <a:xfrm>
            <a:off x="7050024" y="1609344"/>
            <a:ext cx="4593031" cy="91440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ABN on every document</a:t>
            </a:r>
            <a:endParaRPr lang="en-US" sz="1700" dirty="0"/>
          </a:p>
          <a:p>
            <a:pPr marL="0" indent="0">
              <a:spcAft>
                <a:spcPts val="100"/>
              </a:spcAft>
              <a:buNone/>
            </a:pPr>
            <a:r>
              <a:rPr lang="en-US" sz="1400" dirty="0">
                <a:solidFill>
                  <a:schemeClr val="tx2"/>
                </a:solidFill>
              </a:rPr>
              <a:t>Invoices, estimates and receipts carry your ABN; customer ABNs for sales of $1,000 or more</a:t>
            </a:r>
            <a:endParaRPr lang="en-US" sz="1700" dirty="0"/>
          </a:p>
        </p:txBody>
      </p:sp>
      <p:sp>
        <p:nvSpPr>
          <p:cNvPr id="12" name="Point 2 marker"/>
          <p:cNvSpPr/>
          <p:nvPr/>
        </p:nvSpPr>
        <p:spPr>
          <a:xfrm>
            <a:off x="6547104" y="2633472"/>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Point 2"/>
          <p:cNvSpPr txBox="1"/>
          <p:nvPr/>
        </p:nvSpPr>
        <p:spPr>
          <a:xfrm>
            <a:off x="7050024" y="2596896"/>
            <a:ext cx="4593031" cy="91440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GST done properly</a:t>
            </a:r>
            <a:endParaRPr lang="en-US" sz="1700" dirty="0"/>
          </a:p>
          <a:p>
            <a:pPr marL="0" indent="0">
              <a:spcAft>
                <a:spcPts val="100"/>
              </a:spcAft>
              <a:buNone/>
            </a:pPr>
            <a:r>
              <a:rPr lang="en-US" sz="1400" dirty="0">
                <a:solidFill>
                  <a:schemeClr val="tx2"/>
                </a:solidFill>
              </a:rPr>
              <a:t>10% GST on sales and credits on purchases, with tax-inclusive or exclusive prices</a:t>
            </a:r>
            <a:endParaRPr lang="en-US" sz="1700" dirty="0"/>
          </a:p>
        </p:txBody>
      </p:sp>
      <p:sp>
        <p:nvSpPr>
          <p:cNvPr id="14" name="Point 3 marker"/>
          <p:cNvSpPr/>
          <p:nvPr/>
        </p:nvSpPr>
        <p:spPr>
          <a:xfrm>
            <a:off x="6547104" y="3621024"/>
            <a:ext cx="329184" cy="329184"/>
          </a:xfrm>
          <a:prstGeom prst="ellipse">
            <a:avLst/>
          </a:prstGeom>
          <a:solidFill>
            <a:schemeClr val="accent1"/>
          </a:solidFill>
          <a:ln w="19050">
            <a:solidFill>
              <a:srgbClr val="FFFFFF"/>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Point 3"/>
          <p:cNvSpPr txBox="1"/>
          <p:nvPr/>
        </p:nvSpPr>
        <p:spPr>
          <a:xfrm>
            <a:off x="7050024" y="3584448"/>
            <a:ext cx="4593031" cy="914400"/>
          </a:xfrm>
          <a:prstGeom prst="rect">
            <a:avLst/>
          </a:prstGeom>
          <a:noFill/>
          <a:ln/>
        </p:spPr>
        <p:txBody>
          <a:bodyPr wrap="square" lIns="0" tIns="0" rIns="0" bIns="0" rtlCol="0" anchor="t"/>
          <a:lstStyle/>
          <a:p>
            <a:pPr marL="0" indent="0">
              <a:spcAft>
                <a:spcPts val="100"/>
              </a:spcAft>
              <a:buNone/>
            </a:pPr>
            <a:r>
              <a:rPr lang="en-US" sz="1700" dirty="0">
                <a:solidFill>
                  <a:schemeClr val="tx1"/>
                </a:solidFill>
                <a:latin typeface="+mj-lt" pitchFamily="34" charset="0"/>
                <a:ea typeface="+mj-lt" pitchFamily="34" charset="-122"/>
                <a:cs typeface="+mj-lt" pitchFamily="34" charset="-120"/>
              </a:rPr>
              <a:t>Australian conventions</a:t>
            </a:r>
            <a:endParaRPr lang="en-US" sz="1700" dirty="0"/>
          </a:p>
          <a:p>
            <a:pPr marL="0" indent="0">
              <a:spcAft>
                <a:spcPts val="100"/>
              </a:spcAft>
              <a:buNone/>
            </a:pPr>
            <a:r>
              <a:rPr lang="en-US" sz="1400" dirty="0">
                <a:solidFill>
                  <a:schemeClr val="tx2"/>
                </a:solidFill>
              </a:rPr>
              <a:t>AUD by default, Australian dates and a July to June financial year</a:t>
            </a:r>
            <a:endParaRPr lang="en-US" sz="1700" dirty="0"/>
          </a:p>
        </p:txBody>
      </p:sp>
      <p:sp>
        <p:nvSpPr>
          <p:cNvPr id="16" name="Also heading"/>
          <p:cNvSpPr txBox="1"/>
          <p:nvPr/>
        </p:nvSpPr>
        <p:spPr>
          <a:xfrm>
            <a:off x="6547104" y="4663440"/>
            <a:ext cx="5095951"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Also included</a:t>
            </a:r>
            <a:endParaRPr lang="en-US" sz="1200" dirty="0"/>
          </a:p>
        </p:txBody>
      </p:sp>
      <p:sp>
        <p:nvSpPr>
          <p:cNvPr id="17" name="Also list"/>
          <p:cNvSpPr txBox="1"/>
          <p:nvPr/>
        </p:nvSpPr>
        <p:spPr>
          <a:xfrm>
            <a:off x="6547104" y="4983480"/>
            <a:ext cx="5095951" cy="7315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NZD and other currencies with live exchange rates</a:t>
            </a:r>
            <a:endParaRPr lang="en-US" sz="1400" dirty="0"/>
          </a:p>
          <a:p>
            <a:pPr marL="177800" indent="-177800">
              <a:spcAft>
                <a:spcPts val="300"/>
              </a:spcAft>
              <a:buSzPct val="100000"/>
              <a:buChar char="•"/>
            </a:pPr>
            <a:r>
              <a:rPr lang="en-US" sz="1400" dirty="0">
                <a:solidFill>
                  <a:schemeClr val="tx1"/>
                </a:solidFill>
              </a:rPr>
              <a:t>Tax summary report to prepare your BAS</a:t>
            </a:r>
            <a:endParaRPr lang="en-US" sz="1400" dirty="0"/>
          </a:p>
        </p:txBody>
      </p:sp>
      <p:sp>
        <p:nvSpPr>
          <p:cNvPr id="18"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Invoice generated by Kydi for a demo company; the ABN shown is fictitious. Tax invoice requirements: Australian Taxation Office.</a:t>
            </a:r>
            <a:endParaRPr lang="en-US" sz="1000" dirty="0"/>
          </a:p>
        </p:txBody>
      </p:sp>
      <p:sp>
        <p:nvSpPr>
          <p:cNvPr id="25"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WHERE WE ARE</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Built in two days, ready to run today</a:t>
            </a:r>
            <a:endParaRPr lang="en-US" sz="3200" dirty="0"/>
          </a:p>
        </p:txBody>
      </p:sp>
      <p:sp>
        <p:nvSpPr>
          <p:cNvPr id="5" name="lines of strict TypeScript card"/>
          <p:cNvSpPr/>
          <p:nvPr/>
        </p:nvSpPr>
        <p:spPr>
          <a:xfrm>
            <a:off x="548640" y="1600200"/>
            <a:ext cx="2567864" cy="1600200"/>
          </a:xfrm>
          <a:prstGeom prst="roundRect">
            <a:avLst>
              <a:gd name="adj" fmla="val 685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6" name="lines of strict TypeScript figure"/>
          <p:cNvSpPr txBox="1"/>
          <p:nvPr/>
        </p:nvSpPr>
        <p:spPr>
          <a:xfrm>
            <a:off x="822960" y="1783080"/>
            <a:ext cx="2019224" cy="73152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25,000</a:t>
            </a:r>
            <a:endParaRPr lang="en-US" sz="4400" dirty="0"/>
          </a:p>
        </p:txBody>
      </p:sp>
      <p:sp>
        <p:nvSpPr>
          <p:cNvPr id="7" name="lines of strict TypeScript caption"/>
          <p:cNvSpPr txBox="1"/>
          <p:nvPr/>
        </p:nvSpPr>
        <p:spPr>
          <a:xfrm>
            <a:off x="822960" y="2560320"/>
            <a:ext cx="2019224" cy="365760"/>
          </a:xfrm>
          <a:prstGeom prst="rect">
            <a:avLst/>
          </a:prstGeom>
          <a:noFill/>
          <a:ln/>
        </p:spPr>
        <p:txBody>
          <a:bodyPr wrap="square" lIns="0" tIns="0" rIns="0" bIns="0" rtlCol="0" anchor="t"/>
          <a:lstStyle/>
          <a:p>
            <a:pPr marL="0" indent="0">
              <a:buNone/>
            </a:pPr>
            <a:r>
              <a:rPr lang="en-US" sz="1400" dirty="0">
                <a:solidFill>
                  <a:schemeClr val="tx2"/>
                </a:solidFill>
              </a:rPr>
              <a:t>lines of strict TypeScript</a:t>
            </a:r>
            <a:endParaRPr lang="en-US" sz="1400" dirty="0"/>
          </a:p>
        </p:txBody>
      </p:sp>
      <p:sp>
        <p:nvSpPr>
          <p:cNvPr id="8" name="automated tests card"/>
          <p:cNvSpPr/>
          <p:nvPr/>
        </p:nvSpPr>
        <p:spPr>
          <a:xfrm>
            <a:off x="3390824" y="1600200"/>
            <a:ext cx="2567864" cy="1600200"/>
          </a:xfrm>
          <a:prstGeom prst="roundRect">
            <a:avLst>
              <a:gd name="adj" fmla="val 685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9" name="automated tests figure"/>
          <p:cNvSpPr txBox="1"/>
          <p:nvPr/>
        </p:nvSpPr>
        <p:spPr>
          <a:xfrm>
            <a:off x="3665144" y="1783080"/>
            <a:ext cx="2019224" cy="73152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145</a:t>
            </a:r>
            <a:endParaRPr lang="en-US" sz="4400" dirty="0"/>
          </a:p>
        </p:txBody>
      </p:sp>
      <p:sp>
        <p:nvSpPr>
          <p:cNvPr id="10" name="automated tests caption"/>
          <p:cNvSpPr txBox="1"/>
          <p:nvPr/>
        </p:nvSpPr>
        <p:spPr>
          <a:xfrm>
            <a:off x="3665144" y="2560320"/>
            <a:ext cx="2019224" cy="365760"/>
          </a:xfrm>
          <a:prstGeom prst="rect">
            <a:avLst/>
          </a:prstGeom>
          <a:noFill/>
          <a:ln/>
        </p:spPr>
        <p:txBody>
          <a:bodyPr wrap="square" lIns="0" tIns="0" rIns="0" bIns="0" rtlCol="0" anchor="t"/>
          <a:lstStyle/>
          <a:p>
            <a:pPr marL="0" indent="0">
              <a:buNone/>
            </a:pPr>
            <a:r>
              <a:rPr lang="en-US" sz="1400" dirty="0">
                <a:solidFill>
                  <a:schemeClr val="tx2"/>
                </a:solidFill>
              </a:rPr>
              <a:t>automated tests</a:t>
            </a:r>
            <a:endParaRPr lang="en-US" sz="1400" dirty="0"/>
          </a:p>
        </p:txBody>
      </p:sp>
      <p:sp>
        <p:nvSpPr>
          <p:cNvPr id="11" name="data models card"/>
          <p:cNvSpPr/>
          <p:nvPr/>
        </p:nvSpPr>
        <p:spPr>
          <a:xfrm>
            <a:off x="6233008" y="1600200"/>
            <a:ext cx="2567864" cy="1600200"/>
          </a:xfrm>
          <a:prstGeom prst="roundRect">
            <a:avLst>
              <a:gd name="adj" fmla="val 685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2" name="data models figure"/>
          <p:cNvSpPr txBox="1"/>
          <p:nvPr/>
        </p:nvSpPr>
        <p:spPr>
          <a:xfrm>
            <a:off x="6507328" y="1783080"/>
            <a:ext cx="2019224" cy="73152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44</a:t>
            </a:r>
            <a:endParaRPr lang="en-US" sz="4400" dirty="0"/>
          </a:p>
        </p:txBody>
      </p:sp>
      <p:sp>
        <p:nvSpPr>
          <p:cNvPr id="13" name="data models caption"/>
          <p:cNvSpPr txBox="1"/>
          <p:nvPr/>
        </p:nvSpPr>
        <p:spPr>
          <a:xfrm>
            <a:off x="6507328" y="2560320"/>
            <a:ext cx="2019224" cy="365760"/>
          </a:xfrm>
          <a:prstGeom prst="rect">
            <a:avLst/>
          </a:prstGeom>
          <a:noFill/>
          <a:ln/>
        </p:spPr>
        <p:txBody>
          <a:bodyPr wrap="square" lIns="0" tIns="0" rIns="0" bIns="0" rtlCol="0" anchor="t"/>
          <a:lstStyle/>
          <a:p>
            <a:pPr marL="0" indent="0">
              <a:buNone/>
            </a:pPr>
            <a:r>
              <a:rPr lang="en-US" sz="1400" dirty="0">
                <a:solidFill>
                  <a:schemeClr val="tx2"/>
                </a:solidFill>
              </a:rPr>
              <a:t>data models</a:t>
            </a:r>
            <a:endParaRPr lang="en-US" sz="1400" dirty="0"/>
          </a:p>
        </p:txBody>
      </p:sp>
      <p:sp>
        <p:nvSpPr>
          <p:cNvPr id="14" name="screens card"/>
          <p:cNvSpPr/>
          <p:nvPr/>
        </p:nvSpPr>
        <p:spPr>
          <a:xfrm>
            <a:off x="9075191" y="1600200"/>
            <a:ext cx="2567864" cy="1600200"/>
          </a:xfrm>
          <a:prstGeom prst="roundRect">
            <a:avLst>
              <a:gd name="adj" fmla="val 685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5" name="screens figure"/>
          <p:cNvSpPr txBox="1"/>
          <p:nvPr/>
        </p:nvSpPr>
        <p:spPr>
          <a:xfrm>
            <a:off x="9349511" y="1783080"/>
            <a:ext cx="2019224" cy="73152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88</a:t>
            </a:r>
            <a:endParaRPr lang="en-US" sz="4400" dirty="0"/>
          </a:p>
        </p:txBody>
      </p:sp>
      <p:sp>
        <p:nvSpPr>
          <p:cNvPr id="16" name="screens caption"/>
          <p:cNvSpPr txBox="1"/>
          <p:nvPr/>
        </p:nvSpPr>
        <p:spPr>
          <a:xfrm>
            <a:off x="9349511" y="2560320"/>
            <a:ext cx="2019224" cy="365760"/>
          </a:xfrm>
          <a:prstGeom prst="rect">
            <a:avLst/>
          </a:prstGeom>
          <a:noFill/>
          <a:ln/>
        </p:spPr>
        <p:txBody>
          <a:bodyPr wrap="square" lIns="0" tIns="0" rIns="0" bIns="0" rtlCol="0" anchor="t"/>
          <a:lstStyle/>
          <a:p>
            <a:pPr marL="0" indent="0">
              <a:buNone/>
            </a:pPr>
            <a:r>
              <a:rPr lang="en-US" sz="1400" dirty="0">
                <a:solidFill>
                  <a:schemeClr val="tx2"/>
                </a:solidFill>
              </a:rPr>
              <a:t>screens</a:t>
            </a:r>
            <a:endParaRPr lang="en-US" sz="1400" dirty="0"/>
          </a:p>
        </p:txBody>
      </p:sp>
      <p:sp>
        <p:nvSpPr>
          <p:cNvPr id="17" name="Ships today card"/>
          <p:cNvSpPr/>
          <p:nvPr/>
        </p:nvSpPr>
        <p:spPr>
          <a:xfrm>
            <a:off x="548640" y="3474720"/>
            <a:ext cx="6492240" cy="2194560"/>
          </a:xfrm>
          <a:prstGeom prst="roundRect">
            <a:avLst>
              <a:gd name="adj" fmla="val 5000"/>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8" name="Ships heading"/>
          <p:cNvSpPr txBox="1"/>
          <p:nvPr/>
        </p:nvSpPr>
        <p:spPr>
          <a:xfrm>
            <a:off x="868680" y="3657600"/>
            <a:ext cx="3657600" cy="320040"/>
          </a:xfrm>
          <a:prstGeom prst="rect">
            <a:avLst/>
          </a:prstGeom>
          <a:noFill/>
          <a:ln/>
        </p:spPr>
        <p:txBody>
          <a:bodyPr wrap="square" lIns="0" tIns="0" rIns="0" bIns="0" rtlCol="0" anchor="t"/>
          <a:lstStyle/>
          <a:p>
            <a:pPr marL="0" indent="0">
              <a:buNone/>
            </a:pPr>
            <a:r>
              <a:rPr lang="en-US" sz="1700" dirty="0">
                <a:solidFill>
                  <a:schemeClr val="tx1"/>
                </a:solidFill>
                <a:latin typeface="+mj-lt" pitchFamily="34" charset="0"/>
                <a:ea typeface="+mj-lt" pitchFamily="34" charset="-122"/>
                <a:cs typeface="+mj-lt" pitchFamily="34" charset="-120"/>
              </a:rPr>
              <a:t>Ships today</a:t>
            </a:r>
            <a:endParaRPr lang="en-US" sz="1700" dirty="0"/>
          </a:p>
        </p:txBody>
      </p:sp>
      <p:sp>
        <p:nvSpPr>
          <p:cNvPr id="19" name="Ships left"/>
          <p:cNvSpPr txBox="1"/>
          <p:nvPr/>
        </p:nvSpPr>
        <p:spPr>
          <a:xfrm>
            <a:off x="868680" y="4114800"/>
            <a:ext cx="288036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Invoices, estimates, credits</a:t>
            </a:r>
            <a:endParaRPr lang="en-US" sz="1400" dirty="0"/>
          </a:p>
          <a:p>
            <a:pPr marL="177800" indent="-177800">
              <a:spcAft>
                <a:spcPts val="700"/>
              </a:spcAft>
              <a:buSzPct val="100000"/>
              <a:buChar char="•"/>
            </a:pPr>
            <a:r>
              <a:rPr lang="en-US" sz="1400" dirty="0">
                <a:solidFill>
                  <a:schemeClr val="tx1"/>
                </a:solidFill>
              </a:rPr>
              <a:t>Recurring invoices</a:t>
            </a:r>
            <a:endParaRPr lang="en-US" sz="1400" dirty="0"/>
          </a:p>
          <a:p>
            <a:pPr marL="177800" indent="-177800">
              <a:spcAft>
                <a:spcPts val="700"/>
              </a:spcAft>
              <a:buSzPct val="100000"/>
              <a:buChar char="•"/>
            </a:pPr>
            <a:r>
              <a:rPr lang="en-US" sz="1400" dirty="0">
                <a:solidFill>
                  <a:schemeClr val="tx1"/>
                </a:solidFill>
              </a:rPr>
              <a:t>Payments and receipts</a:t>
            </a:r>
            <a:endParaRPr lang="en-US" sz="1400" dirty="0"/>
          </a:p>
          <a:p>
            <a:pPr marL="177800" indent="-177800">
              <a:spcAft>
                <a:spcPts val="700"/>
              </a:spcAft>
              <a:buSzPct val="100000"/>
              <a:buChar char="•"/>
            </a:pPr>
            <a:r>
              <a:rPr lang="en-US" sz="1400" dirty="0">
                <a:solidFill>
                  <a:schemeClr val="tx1"/>
                </a:solidFill>
              </a:rPr>
              <a:t>Suppliers, bills, expenses</a:t>
            </a:r>
            <a:endParaRPr lang="en-US" sz="1400" dirty="0"/>
          </a:p>
        </p:txBody>
      </p:sp>
      <p:sp>
        <p:nvSpPr>
          <p:cNvPr id="20" name="Ships right"/>
          <p:cNvSpPr txBox="1"/>
          <p:nvPr/>
        </p:nvSpPr>
        <p:spPr>
          <a:xfrm>
            <a:off x="3886200" y="4114800"/>
            <a:ext cx="288036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Customer portal</a:t>
            </a:r>
            <a:endParaRPr lang="en-US" sz="1400" dirty="0"/>
          </a:p>
          <a:p>
            <a:pPr marL="177800" indent="-177800">
              <a:spcAft>
                <a:spcPts val="700"/>
              </a:spcAft>
              <a:buSzPct val="100000"/>
              <a:buChar char="•"/>
            </a:pPr>
            <a:r>
              <a:rPr lang="en-US" sz="1400" dirty="0">
                <a:solidFill>
                  <a:schemeClr val="tx1"/>
                </a:solidFill>
              </a:rPr>
              <a:t>Six PDF templates</a:t>
            </a:r>
            <a:endParaRPr lang="en-US" sz="1400" dirty="0"/>
          </a:p>
          <a:p>
            <a:pPr marL="177800" indent="-177800">
              <a:spcAft>
                <a:spcPts val="700"/>
              </a:spcAft>
              <a:buSzPct val="100000"/>
              <a:buChar char="•"/>
            </a:pPr>
            <a:r>
              <a:rPr lang="en-US" sz="1400" dirty="0">
                <a:solidFill>
                  <a:schemeClr val="tx1"/>
                </a:solidFill>
              </a:rPr>
              <a:t>Teams, roles, companies</a:t>
            </a:r>
            <a:endParaRPr lang="en-US" sz="1400" dirty="0"/>
          </a:p>
          <a:p>
            <a:pPr marL="177800" indent="-177800">
              <a:spcAft>
                <a:spcPts val="700"/>
              </a:spcAft>
              <a:buSzPct val="100000"/>
              <a:buChar char="•"/>
            </a:pPr>
            <a:r>
              <a:rPr lang="en-US" sz="1400" dirty="0">
                <a:solidFill>
                  <a:schemeClr val="tx1"/>
                </a:solidFill>
              </a:rPr>
              <a:t>REST API</a:t>
            </a:r>
            <a:endParaRPr lang="en-US" sz="1400" dirty="0"/>
          </a:p>
        </p:txBody>
      </p:sp>
      <p:sp>
        <p:nvSpPr>
          <p:cNvPr id="21" name="Deploy card"/>
          <p:cNvSpPr/>
          <p:nvPr/>
        </p:nvSpPr>
        <p:spPr>
          <a:xfrm>
            <a:off x="7315200" y="3474720"/>
            <a:ext cx="4327855" cy="2194560"/>
          </a:xfrm>
          <a:prstGeom prst="roundRect">
            <a:avLst>
              <a:gd name="adj" fmla="val 5000"/>
            </a:avLst>
          </a:prstGeom>
          <a:solidFill>
            <a:schemeClr val="accent2"/>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22" name="Deploy heading"/>
          <p:cNvSpPr txBox="1"/>
          <p:nvPr/>
        </p:nvSpPr>
        <p:spPr>
          <a:xfrm>
            <a:off x="7635240" y="3657600"/>
            <a:ext cx="3687775" cy="320040"/>
          </a:xfrm>
          <a:prstGeom prst="rect">
            <a:avLst/>
          </a:prstGeom>
          <a:noFill/>
          <a:ln/>
        </p:spPr>
        <p:txBody>
          <a:bodyPr wrap="square" lIns="0" tIns="0" rIns="0" bIns="0" rtlCol="0" anchor="t"/>
          <a:lstStyle/>
          <a:p>
            <a:pPr marL="0" indent="0">
              <a:buNone/>
            </a:pPr>
            <a:r>
              <a:rPr lang="en-US" sz="1700" dirty="0">
                <a:solidFill>
                  <a:schemeClr val="bg1"/>
                </a:solidFill>
                <a:latin typeface="+mj-lt" pitchFamily="34" charset="0"/>
                <a:ea typeface="+mj-lt" pitchFamily="34" charset="-122"/>
                <a:cs typeface="+mj-lt" pitchFamily="34" charset="-120"/>
              </a:rPr>
              <a:t>Deploys in one command</a:t>
            </a:r>
            <a:endParaRPr lang="en-US" sz="1700" dirty="0"/>
          </a:p>
        </p:txBody>
      </p:sp>
      <p:sp>
        <p:nvSpPr>
          <p:cNvPr id="23" name="Deploy body"/>
          <p:cNvSpPr txBox="1"/>
          <p:nvPr/>
        </p:nvSpPr>
        <p:spPr>
          <a:xfrm>
            <a:off x="7635240" y="4041648"/>
            <a:ext cx="3687775" cy="777240"/>
          </a:xfrm>
          <a:prstGeom prst="rect">
            <a:avLst/>
          </a:prstGeom>
          <a:noFill/>
          <a:ln/>
        </p:spPr>
        <p:txBody>
          <a:bodyPr wrap="square" lIns="0" tIns="0" rIns="0" bIns="0" rtlCol="0" anchor="t"/>
          <a:lstStyle/>
          <a:p>
            <a:pPr marL="0" indent="0">
              <a:buNone/>
            </a:pPr>
            <a:r>
              <a:rPr lang="en-US" sz="1400" dirty="0">
                <a:solidFill>
                  <a:schemeClr val="accent3"/>
                </a:solidFill>
              </a:rPr>
              <a:t>Database, storage and secrets are created for each install on Zenith Hosting, or run it anywhere with Docker.</a:t>
            </a:r>
            <a:endParaRPr lang="en-US" sz="1400" dirty="0"/>
          </a:p>
        </p:txBody>
      </p:sp>
      <p:sp>
        <p:nvSpPr>
          <p:cNvPr id="24" name="Stack pill 1"/>
          <p:cNvSpPr/>
          <p:nvPr/>
        </p:nvSpPr>
        <p:spPr>
          <a:xfrm>
            <a:off x="7635240" y="5029200"/>
            <a:ext cx="822960" cy="329184"/>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dirty="0">
                <a:solidFill>
                  <a:schemeClr val="bg1"/>
                </a:solidFill>
              </a:rPr>
              <a:t>Next.js 15</a:t>
            </a:r>
            <a:endParaRPr lang="en-US" sz="1100" dirty="0"/>
          </a:p>
        </p:txBody>
      </p:sp>
      <p:sp>
        <p:nvSpPr>
          <p:cNvPr id="25" name="Stack pill 2"/>
          <p:cNvSpPr/>
          <p:nvPr/>
        </p:nvSpPr>
        <p:spPr>
          <a:xfrm>
            <a:off x="8549640" y="5029200"/>
            <a:ext cx="822960" cy="329184"/>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dirty="0">
                <a:solidFill>
                  <a:schemeClr val="bg1"/>
                </a:solidFill>
              </a:rPr>
              <a:t>TypeScript</a:t>
            </a:r>
            <a:endParaRPr lang="en-US" sz="1100" dirty="0"/>
          </a:p>
        </p:txBody>
      </p:sp>
      <p:sp>
        <p:nvSpPr>
          <p:cNvPr id="26" name="Stack pill 3"/>
          <p:cNvSpPr/>
          <p:nvPr/>
        </p:nvSpPr>
        <p:spPr>
          <a:xfrm>
            <a:off x="9464040" y="5029200"/>
            <a:ext cx="1014984" cy="329184"/>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dirty="0">
                <a:solidFill>
                  <a:schemeClr val="bg1"/>
                </a:solidFill>
              </a:rPr>
              <a:t>PostgreSQL 16</a:t>
            </a:r>
            <a:endParaRPr lang="en-US" sz="1100" dirty="0"/>
          </a:p>
        </p:txBody>
      </p:sp>
      <p:sp>
        <p:nvSpPr>
          <p:cNvPr id="27" name="Stack pill 4"/>
          <p:cNvSpPr/>
          <p:nvPr/>
        </p:nvSpPr>
        <p:spPr>
          <a:xfrm>
            <a:off x="10570464" y="5029200"/>
            <a:ext cx="566928" cy="329184"/>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dirty="0">
                <a:solidFill>
                  <a:schemeClr val="bg1"/>
                </a:solidFill>
              </a:rPr>
              <a:t>Docker</a:t>
            </a:r>
            <a:endParaRPr lang="en-US" sz="1100" dirty="0"/>
          </a:p>
        </p:txBody>
      </p:sp>
      <p:sp>
        <p:nvSpPr>
          <p:cNvPr id="28"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Figures from the Kydi repository on 17 October 2026; first commit 16 October 2026.</a:t>
            </a:r>
            <a:endParaRPr lang="en-US" sz="1000" dirty="0"/>
          </a:p>
        </p:txBody>
      </p:sp>
      <p:sp>
        <p:nvSpPr>
          <p:cNvPr id="29"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dot"/>
          <p:cNvSpPr/>
          <p:nvPr/>
        </p:nvSpPr>
        <p:spPr>
          <a:xfrm>
            <a:off x="548640" y="429768"/>
            <a:ext cx="118872" cy="118872"/>
          </a:xfrm>
          <a:prstGeom prst="ellipse">
            <a:avLst/>
          </a:prstGeom>
          <a:solidFill>
            <a:schemeClr val="accent1"/>
          </a:solidFill>
          <a:ln/>
        </p:spPr>
        <p:txBody>
          <a:bodyPr/>
          <a:lstStyle/>
          <a:p>
            <a:endParaRPr lang="en-AU"/>
          </a:p>
        </p:txBody>
      </p:sp>
      <p:sp>
        <p:nvSpPr>
          <p:cNvPr id="3" name="Eyebrow"/>
          <p:cNvSpPr txBox="1"/>
          <p:nvPr/>
        </p:nvSpPr>
        <p:spPr>
          <a:xfrm>
            <a:off x="768096" y="347472"/>
            <a:ext cx="73152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WHY NOW</a:t>
            </a:r>
            <a:endParaRPr lang="en-US" sz="1200" dirty="0"/>
          </a:p>
        </p:txBody>
      </p:sp>
      <p:sp>
        <p:nvSpPr>
          <p:cNvPr id="4" name="Text 0"/>
          <p:cNvSpPr>
            <a:spLocks noGrp="1"/>
          </p:cNvSpPr>
          <p:nvPr>
            <p:ph type="title" idx="100" hasCustomPrompt="1"/>
          </p:nvPr>
        </p:nvSpPr>
        <p:spPr>
          <a:xfrm>
            <a:off x="548640" y="713232"/>
            <a:ext cx="11094415" cy="658368"/>
          </a:xfrm>
          <a:prstGeom prst="rect">
            <a:avLst/>
          </a:prstGeom>
          <a:noFill/>
          <a:ln/>
        </p:spPr>
        <p:txBody>
          <a:bodyPr wrap="square" lIns="0" tIns="0" rIns="0" bIns="0" rtlCol="0" anchor="t"/>
          <a:lstStyle/>
          <a:p>
            <a:pPr marL="0" indent="0" algn="l">
              <a:buNone/>
            </a:pPr>
            <a:r>
              <a:rPr lang="en-US" sz="3200" dirty="0">
                <a:solidFill>
                  <a:schemeClr val="tx1"/>
                </a:solidFill>
              </a:rPr>
              <a:t>E-invoicing and price rises open the door</a:t>
            </a:r>
            <a:endParaRPr lang="en-US" sz="3200" dirty="0"/>
          </a:p>
        </p:txBody>
      </p:sp>
      <p:sp>
        <p:nvSpPr>
          <p:cNvPr id="5" name="Tailwind 1"/>
          <p:cNvSpPr/>
          <p:nvPr/>
        </p:nvSpPr>
        <p:spPr>
          <a:xfrm>
            <a:off x="548640" y="1600200"/>
            <a:ext cx="3515258" cy="2103120"/>
          </a:xfrm>
          <a:prstGeom prst="roundRect">
            <a:avLst>
              <a:gd name="adj" fmla="val 521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6" name="Tailwind 1 figure"/>
          <p:cNvSpPr txBox="1"/>
          <p:nvPr/>
        </p:nvSpPr>
        <p:spPr>
          <a:xfrm>
            <a:off x="868680" y="1783080"/>
            <a:ext cx="2875178" cy="77724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5 days</a:t>
            </a:r>
            <a:endParaRPr lang="en-US" sz="4400" dirty="0"/>
          </a:p>
        </p:txBody>
      </p:sp>
      <p:sp>
        <p:nvSpPr>
          <p:cNvPr id="7" name="Tailwind 1 caption"/>
          <p:cNvSpPr txBox="1"/>
          <p:nvPr/>
        </p:nvSpPr>
        <p:spPr>
          <a:xfrm>
            <a:off x="868680" y="2651760"/>
            <a:ext cx="2875178" cy="868680"/>
          </a:xfrm>
          <a:prstGeom prst="rect">
            <a:avLst/>
          </a:prstGeom>
          <a:noFill/>
          <a:ln/>
        </p:spPr>
        <p:txBody>
          <a:bodyPr wrap="square" lIns="0" tIns="0" rIns="0" bIns="0" rtlCol="0" anchor="t"/>
          <a:lstStyle/>
          <a:p>
            <a:pPr marL="0" indent="0">
              <a:buNone/>
            </a:pPr>
            <a:r>
              <a:rPr lang="en-US" sz="1400" dirty="0">
                <a:solidFill>
                  <a:schemeClr val="tx2"/>
                </a:solidFill>
              </a:rPr>
              <a:t>Commonwealth agencies pay Peppol e-invoices within 5 days, against 20 for other invoices</a:t>
            </a:r>
            <a:endParaRPr lang="en-US" sz="1400" dirty="0"/>
          </a:p>
        </p:txBody>
      </p:sp>
      <p:sp>
        <p:nvSpPr>
          <p:cNvPr id="8" name="Tailwind 2"/>
          <p:cNvSpPr/>
          <p:nvPr/>
        </p:nvSpPr>
        <p:spPr>
          <a:xfrm>
            <a:off x="4338218" y="1600200"/>
            <a:ext cx="3515258" cy="2103120"/>
          </a:xfrm>
          <a:prstGeom prst="roundRect">
            <a:avLst>
              <a:gd name="adj" fmla="val 521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9" name="Tailwind 2 figure"/>
          <p:cNvSpPr txBox="1"/>
          <p:nvPr/>
        </p:nvSpPr>
        <p:spPr>
          <a:xfrm>
            <a:off x="4658258" y="1783080"/>
            <a:ext cx="2875178" cy="77724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400,000+</a:t>
            </a:r>
            <a:endParaRPr lang="en-US" sz="4400" dirty="0"/>
          </a:p>
        </p:txBody>
      </p:sp>
      <p:sp>
        <p:nvSpPr>
          <p:cNvPr id="10" name="Tailwind 2 caption"/>
          <p:cNvSpPr txBox="1"/>
          <p:nvPr/>
        </p:nvSpPr>
        <p:spPr>
          <a:xfrm>
            <a:off x="4658258" y="2651760"/>
            <a:ext cx="2875178" cy="868680"/>
          </a:xfrm>
          <a:prstGeom prst="rect">
            <a:avLst/>
          </a:prstGeom>
          <a:noFill/>
          <a:ln/>
        </p:spPr>
        <p:txBody>
          <a:bodyPr wrap="square" lIns="0" tIns="0" rIns="0" bIns="0" rtlCol="0" anchor="t"/>
          <a:lstStyle/>
          <a:p>
            <a:pPr marL="0" indent="0">
              <a:buNone/>
            </a:pPr>
            <a:r>
              <a:rPr lang="en-US" sz="1400" dirty="0">
                <a:solidFill>
                  <a:schemeClr val="tx2"/>
                </a:solidFill>
              </a:rPr>
              <a:t>Australian businesses already reachable on the Peppol e-invoicing network</a:t>
            </a:r>
            <a:endParaRPr lang="en-US" sz="1400" dirty="0"/>
          </a:p>
        </p:txBody>
      </p:sp>
      <p:sp>
        <p:nvSpPr>
          <p:cNvPr id="11" name="Tailwind 3"/>
          <p:cNvSpPr/>
          <p:nvPr/>
        </p:nvSpPr>
        <p:spPr>
          <a:xfrm>
            <a:off x="8127797" y="1600200"/>
            <a:ext cx="3515258" cy="2103120"/>
          </a:xfrm>
          <a:prstGeom prst="roundRect">
            <a:avLst>
              <a:gd name="adj" fmla="val 5217"/>
            </a:avLst>
          </a:prstGeom>
          <a:solidFill>
            <a:schemeClr val="bg1"/>
          </a:solidFill>
          <a:ln w="9525">
            <a:solidFill>
              <a:srgbClr val="E3E9F3"/>
            </a:solidFill>
            <a:prstDash val="solid"/>
          </a:ln>
          <a:effectLst>
            <a:outerShdw blurRad="228600" dist="50800" dir="5400000" algn="bl" rotWithShape="0">
              <a:srgbClr val="0B1630">
                <a:alpha val="8000"/>
              </a:srgbClr>
            </a:outerShdw>
          </a:effectLst>
        </p:spPr>
        <p:txBody>
          <a:bodyPr/>
          <a:lstStyle/>
          <a:p>
            <a:endParaRPr lang="en-AU"/>
          </a:p>
        </p:txBody>
      </p:sp>
      <p:sp>
        <p:nvSpPr>
          <p:cNvPr id="12" name="Tailwind 3 figure"/>
          <p:cNvSpPr txBox="1"/>
          <p:nvPr/>
        </p:nvSpPr>
        <p:spPr>
          <a:xfrm>
            <a:off x="8447837" y="1783080"/>
            <a:ext cx="2875178" cy="777240"/>
          </a:xfrm>
          <a:prstGeom prst="rect">
            <a:avLst/>
          </a:prstGeom>
          <a:noFill/>
          <a:ln/>
        </p:spPr>
        <p:txBody>
          <a:bodyPr wrap="square" lIns="0" tIns="0" rIns="0" bIns="0" rtlCol="0" anchor="b"/>
          <a:lstStyle/>
          <a:p>
            <a:pPr marL="0" indent="0">
              <a:buNone/>
            </a:pPr>
            <a:r>
              <a:rPr lang="en-US" sz="4400" dirty="0">
                <a:solidFill>
                  <a:schemeClr val="accent1"/>
                </a:solidFill>
                <a:latin typeface="+mj-lt" pitchFamily="34" charset="0"/>
                <a:ea typeface="+mj-lt" pitchFamily="34" charset="-122"/>
                <a:cs typeface="+mj-lt" pitchFamily="34" charset="-120"/>
              </a:rPr>
              <a:t>3 in 10</a:t>
            </a:r>
            <a:endParaRPr lang="en-US" sz="4400" dirty="0"/>
          </a:p>
        </p:txBody>
      </p:sp>
      <p:sp>
        <p:nvSpPr>
          <p:cNvPr id="13" name="Tailwind 3 caption"/>
          <p:cNvSpPr txBox="1"/>
          <p:nvPr/>
        </p:nvSpPr>
        <p:spPr>
          <a:xfrm>
            <a:off x="8447837" y="2651760"/>
            <a:ext cx="2875178" cy="868680"/>
          </a:xfrm>
          <a:prstGeom prst="rect">
            <a:avLst/>
          </a:prstGeom>
          <a:noFill/>
          <a:ln/>
        </p:spPr>
        <p:txBody>
          <a:bodyPr wrap="square" lIns="0" tIns="0" rIns="0" bIns="0" rtlCol="0" anchor="t"/>
          <a:lstStyle/>
          <a:p>
            <a:pPr marL="0" indent="0">
              <a:buNone/>
            </a:pPr>
            <a:r>
              <a:rPr lang="en-US" sz="1400" dirty="0">
                <a:solidFill>
                  <a:schemeClr val="tx2"/>
                </a:solidFill>
              </a:rPr>
              <a:t>invoices from large businesses are not paid within 30 days</a:t>
            </a:r>
            <a:endParaRPr lang="en-US" sz="1400" dirty="0"/>
          </a:p>
        </p:txBody>
      </p:sp>
      <p:sp>
        <p:nvSpPr>
          <p:cNvPr id="14" name="Roadmap heading"/>
          <p:cNvSpPr txBox="1"/>
          <p:nvPr/>
        </p:nvSpPr>
        <p:spPr>
          <a:xfrm>
            <a:off x="548640" y="3931920"/>
            <a:ext cx="5486400" cy="320040"/>
          </a:xfrm>
          <a:prstGeom prst="rect">
            <a:avLst/>
          </a:prstGeom>
          <a:noFill/>
          <a:ln/>
        </p:spPr>
        <p:txBody>
          <a:bodyPr wrap="square" lIns="0" tIns="0" rIns="0" bIns="0" rtlCol="0" anchor="t"/>
          <a:lstStyle/>
          <a:p>
            <a:pPr marL="0" indent="0">
              <a:buNone/>
            </a:pPr>
            <a:r>
              <a:rPr lang="en-US" sz="1700" dirty="0">
                <a:solidFill>
                  <a:schemeClr val="tx1"/>
                </a:solidFill>
                <a:latin typeface="+mj-lt" pitchFamily="34" charset="0"/>
                <a:ea typeface="+mj-lt" pitchFamily="34" charset="-122"/>
                <a:cs typeface="+mj-lt" pitchFamily="34" charset="-120"/>
              </a:rPr>
              <a:t>What Kydi adds next</a:t>
            </a:r>
            <a:endParaRPr lang="en-US" sz="1700" dirty="0"/>
          </a:p>
        </p:txBody>
      </p:sp>
      <p:sp>
        <p:nvSpPr>
          <p:cNvPr id="15" name="Roadmap line"/>
          <p:cNvSpPr/>
          <p:nvPr/>
        </p:nvSpPr>
        <p:spPr>
          <a:xfrm>
            <a:off x="640080" y="4800600"/>
            <a:ext cx="7579157" cy="0"/>
          </a:xfrm>
          <a:prstGeom prst="line">
            <a:avLst/>
          </a:prstGeom>
          <a:noFill/>
          <a:ln w="25400">
            <a:solidFill>
              <a:srgbClr val="8DB8FF"/>
            </a:solidFill>
            <a:prstDash val="solid"/>
          </a:ln>
        </p:spPr>
        <p:txBody>
          <a:bodyPr/>
          <a:lstStyle/>
          <a:p>
            <a:endParaRPr lang="en-AU"/>
          </a:p>
        </p:txBody>
      </p:sp>
      <p:sp>
        <p:nvSpPr>
          <p:cNvPr id="16" name="Roadmap Next dot"/>
          <p:cNvSpPr/>
          <p:nvPr/>
        </p:nvSpPr>
        <p:spPr>
          <a:xfrm>
            <a:off x="548640" y="4709160"/>
            <a:ext cx="182880" cy="182880"/>
          </a:xfrm>
          <a:prstGeom prst="ellipse">
            <a:avLst/>
          </a:prstGeom>
          <a:solidFill>
            <a:schemeClr val="accent1"/>
          </a:solidFill>
          <a:ln w="25400">
            <a:solidFill>
              <a:srgbClr val="026BEF"/>
            </a:solidFill>
            <a:prstDash val="solid"/>
          </a:ln>
        </p:spPr>
        <p:txBody>
          <a:bodyPr/>
          <a:lstStyle/>
          <a:p>
            <a:endParaRPr lang="en-AU"/>
          </a:p>
        </p:txBody>
      </p:sp>
      <p:sp>
        <p:nvSpPr>
          <p:cNvPr id="17" name="Roadmap Next label"/>
          <p:cNvSpPr txBox="1"/>
          <p:nvPr/>
        </p:nvSpPr>
        <p:spPr>
          <a:xfrm>
            <a:off x="548640" y="4343400"/>
            <a:ext cx="18288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NEXT</a:t>
            </a:r>
            <a:endParaRPr lang="en-US" sz="1200" dirty="0"/>
          </a:p>
        </p:txBody>
      </p:sp>
      <p:sp>
        <p:nvSpPr>
          <p:cNvPr id="18" name="Roadmap Next"/>
          <p:cNvSpPr txBox="1"/>
          <p:nvPr/>
        </p:nvSpPr>
        <p:spPr>
          <a:xfrm>
            <a:off x="548640" y="5038344"/>
            <a:ext cx="3332378" cy="685800"/>
          </a:xfrm>
          <a:prstGeom prst="rect">
            <a:avLst/>
          </a:prstGeom>
          <a:noFill/>
          <a:ln/>
        </p:spPr>
        <p:txBody>
          <a:bodyPr wrap="square" lIns="0" tIns="0" rIns="0" bIns="0" rtlCol="0" anchor="t"/>
          <a:lstStyle/>
          <a:p>
            <a:pPr marL="0" indent="0">
              <a:buNone/>
            </a:pPr>
            <a:r>
              <a:rPr lang="en-US" sz="1400" dirty="0">
                <a:solidFill>
                  <a:schemeClr val="tx1"/>
                </a:solidFill>
              </a:rPr>
              <a:t>ATO tax-invoice heading and checks on every invoice</a:t>
            </a:r>
            <a:endParaRPr lang="en-US" sz="1400" dirty="0"/>
          </a:p>
        </p:txBody>
      </p:sp>
      <p:sp>
        <p:nvSpPr>
          <p:cNvPr id="19" name="Roadmap Then dot"/>
          <p:cNvSpPr/>
          <p:nvPr/>
        </p:nvSpPr>
        <p:spPr>
          <a:xfrm>
            <a:off x="4338218" y="4709160"/>
            <a:ext cx="182880" cy="182880"/>
          </a:xfrm>
          <a:prstGeom prst="ellipse">
            <a:avLst/>
          </a:prstGeom>
          <a:solidFill>
            <a:schemeClr val="bg1"/>
          </a:solidFill>
          <a:ln w="25400">
            <a:solidFill>
              <a:srgbClr val="026BEF"/>
            </a:solidFill>
            <a:prstDash val="solid"/>
          </a:ln>
        </p:spPr>
        <p:txBody>
          <a:bodyPr/>
          <a:lstStyle/>
          <a:p>
            <a:endParaRPr lang="en-AU"/>
          </a:p>
        </p:txBody>
      </p:sp>
      <p:sp>
        <p:nvSpPr>
          <p:cNvPr id="20" name="Roadmap Then label"/>
          <p:cNvSpPr txBox="1"/>
          <p:nvPr/>
        </p:nvSpPr>
        <p:spPr>
          <a:xfrm>
            <a:off x="4338218" y="4343400"/>
            <a:ext cx="18288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THEN</a:t>
            </a:r>
            <a:endParaRPr lang="en-US" sz="1200" dirty="0"/>
          </a:p>
        </p:txBody>
      </p:sp>
      <p:sp>
        <p:nvSpPr>
          <p:cNvPr id="21" name="Roadmap Then"/>
          <p:cNvSpPr txBox="1"/>
          <p:nvPr/>
        </p:nvSpPr>
        <p:spPr>
          <a:xfrm>
            <a:off x="4338218" y="5038344"/>
            <a:ext cx="3332378" cy="685800"/>
          </a:xfrm>
          <a:prstGeom prst="rect">
            <a:avLst/>
          </a:prstGeom>
          <a:noFill/>
          <a:ln/>
        </p:spPr>
        <p:txBody>
          <a:bodyPr wrap="square" lIns="0" tIns="0" rIns="0" bIns="0" rtlCol="0" anchor="t"/>
          <a:lstStyle/>
          <a:p>
            <a:pPr marL="0" indent="0">
              <a:buNone/>
            </a:pPr>
            <a:r>
              <a:rPr lang="en-US" sz="1400" dirty="0">
                <a:solidFill>
                  <a:schemeClr val="tx1"/>
                </a:solidFill>
              </a:rPr>
              <a:t>Send and receive Peppol e-invoices through an access point</a:t>
            </a:r>
            <a:endParaRPr lang="en-US" sz="1400" dirty="0"/>
          </a:p>
        </p:txBody>
      </p:sp>
      <p:sp>
        <p:nvSpPr>
          <p:cNvPr id="22" name="Roadmap Later dot"/>
          <p:cNvSpPr/>
          <p:nvPr/>
        </p:nvSpPr>
        <p:spPr>
          <a:xfrm>
            <a:off x="8127797" y="4709160"/>
            <a:ext cx="182880" cy="182880"/>
          </a:xfrm>
          <a:prstGeom prst="ellipse">
            <a:avLst/>
          </a:prstGeom>
          <a:solidFill>
            <a:schemeClr val="bg1"/>
          </a:solidFill>
          <a:ln w="25400">
            <a:solidFill>
              <a:srgbClr val="026BEF"/>
            </a:solidFill>
            <a:prstDash val="solid"/>
          </a:ln>
        </p:spPr>
        <p:txBody>
          <a:bodyPr/>
          <a:lstStyle/>
          <a:p>
            <a:endParaRPr lang="en-AU"/>
          </a:p>
        </p:txBody>
      </p:sp>
      <p:sp>
        <p:nvSpPr>
          <p:cNvPr id="23" name="Roadmap Later label"/>
          <p:cNvSpPr txBox="1"/>
          <p:nvPr/>
        </p:nvSpPr>
        <p:spPr>
          <a:xfrm>
            <a:off x="8127797" y="4343400"/>
            <a:ext cx="18288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LATER</a:t>
            </a:r>
            <a:endParaRPr lang="en-US" sz="1200" dirty="0"/>
          </a:p>
        </p:txBody>
      </p:sp>
      <p:sp>
        <p:nvSpPr>
          <p:cNvPr id="24" name="Roadmap Later"/>
          <p:cNvSpPr txBox="1"/>
          <p:nvPr/>
        </p:nvSpPr>
        <p:spPr>
          <a:xfrm>
            <a:off x="8127797" y="5038344"/>
            <a:ext cx="3332378" cy="685800"/>
          </a:xfrm>
          <a:prstGeom prst="rect">
            <a:avLst/>
          </a:prstGeom>
          <a:noFill/>
          <a:ln/>
        </p:spPr>
        <p:txBody>
          <a:bodyPr wrap="square" lIns="0" tIns="0" rIns="0" bIns="0" rtlCol="0" anchor="t"/>
          <a:lstStyle/>
          <a:p>
            <a:pPr marL="0" indent="0">
              <a:buNone/>
            </a:pPr>
            <a:r>
              <a:rPr lang="en-US" sz="1400" dirty="0">
                <a:solidFill>
                  <a:schemeClr val="tx1"/>
                </a:solidFill>
              </a:rPr>
              <a:t>One-click hosting so non-technical owners can run Kydi</a:t>
            </a:r>
            <a:endParaRPr lang="en-US" sz="1400" dirty="0"/>
          </a:p>
        </p:txBody>
      </p:sp>
      <p:sp>
        <p:nvSpPr>
          <p:cNvPr id="25" name="Sources"/>
          <p:cNvSpPr txBox="1"/>
          <p:nvPr/>
        </p:nvSpPr>
        <p:spPr>
          <a:xfrm>
            <a:off x="548640" y="5870448"/>
            <a:ext cx="11094415" cy="384048"/>
          </a:xfrm>
          <a:prstGeom prst="rect">
            <a:avLst/>
          </a:prstGeom>
          <a:noFill/>
          <a:ln/>
        </p:spPr>
        <p:txBody>
          <a:bodyPr wrap="square" lIns="0" tIns="0" rIns="0" bIns="0" rtlCol="0" anchor="b"/>
          <a:lstStyle/>
          <a:p>
            <a:pPr marL="0" indent="0">
              <a:buNone/>
            </a:pPr>
            <a:r>
              <a:rPr lang="en-US" sz="1000" dirty="0">
                <a:solidFill>
                  <a:schemeClr val="tx2"/>
                </a:solidFill>
              </a:rPr>
              <a:t>Sources: Department of Finance, RMG 417 Supplier Pay On-Time or Pay Interest Policy. ATO eInvoicing, 2026. Payment Times Reporting Regulator, Cycle 10 (Jul–Dec 2025): 69.8% paid within 30 days.</a:t>
            </a:r>
            <a:endParaRPr lang="en-US" sz="1000" dirty="0"/>
          </a:p>
        </p:txBody>
      </p:sp>
      <p:sp>
        <p:nvSpPr>
          <p:cNvPr id="26" name="Slide Number Placeholder 0"/>
          <p:cNvSpPr>
            <a:spLocks noGrp="1"/>
          </p:cNvSpPr>
          <p:nvPr>
            <p:ph type="sldNum" sz="quarter" idx="4294967295"/>
          </p:nvPr>
        </p:nvSpPr>
        <p:spPr>
          <a:xfrm>
            <a:off x="11094415" y="6382512"/>
            <a:ext cx="54864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ing 1"/>
          <p:cNvSpPr/>
          <p:nvPr/>
        </p:nvSpPr>
        <p:spPr>
          <a:xfrm>
            <a:off x="9326880" y="2423160"/>
            <a:ext cx="2011680" cy="2011680"/>
          </a:xfrm>
          <a:prstGeom prst="ellipse">
            <a:avLst/>
          </a:prstGeom>
          <a:ln w="15875">
            <a:solidFill>
              <a:srgbClr val="1E3563"/>
            </a:solidFill>
            <a:prstDash val="solid"/>
          </a:ln>
        </p:spPr>
        <p:txBody>
          <a:bodyPr/>
          <a:lstStyle/>
          <a:p>
            <a:endParaRPr lang="en-AU"/>
          </a:p>
        </p:txBody>
      </p:sp>
      <p:sp>
        <p:nvSpPr>
          <p:cNvPr id="3" name="Ring 2"/>
          <p:cNvSpPr/>
          <p:nvPr/>
        </p:nvSpPr>
        <p:spPr>
          <a:xfrm>
            <a:off x="8412480" y="1508760"/>
            <a:ext cx="3840480" cy="3840480"/>
          </a:xfrm>
          <a:prstGeom prst="ellipse">
            <a:avLst/>
          </a:prstGeom>
          <a:ln w="15875">
            <a:solidFill>
              <a:srgbClr val="1E3563"/>
            </a:solidFill>
            <a:prstDash val="solid"/>
          </a:ln>
        </p:spPr>
        <p:txBody>
          <a:bodyPr/>
          <a:lstStyle/>
          <a:p>
            <a:endParaRPr lang="en-AU"/>
          </a:p>
        </p:txBody>
      </p:sp>
      <p:sp>
        <p:nvSpPr>
          <p:cNvPr id="4" name="Ring 3"/>
          <p:cNvSpPr/>
          <p:nvPr/>
        </p:nvSpPr>
        <p:spPr>
          <a:xfrm>
            <a:off x="7498080" y="594360"/>
            <a:ext cx="5669280" cy="5669280"/>
          </a:xfrm>
          <a:prstGeom prst="ellipse">
            <a:avLst/>
          </a:prstGeom>
          <a:ln w="15875">
            <a:solidFill>
              <a:srgbClr val="1E3563"/>
            </a:solidFill>
            <a:prstDash val="solid"/>
          </a:ln>
        </p:spPr>
        <p:txBody>
          <a:bodyPr/>
          <a:lstStyle/>
          <a:p>
            <a:endParaRPr lang="en-AU"/>
          </a:p>
        </p:txBody>
      </p:sp>
      <p:sp>
        <p:nvSpPr>
          <p:cNvPr id="5" name="Ring 4"/>
          <p:cNvSpPr/>
          <p:nvPr/>
        </p:nvSpPr>
        <p:spPr>
          <a:xfrm>
            <a:off x="6583680" y="-320040"/>
            <a:ext cx="7498080" cy="7498080"/>
          </a:xfrm>
          <a:prstGeom prst="ellipse">
            <a:avLst/>
          </a:prstGeom>
          <a:ln w="15875">
            <a:solidFill>
              <a:srgbClr val="1E3563"/>
            </a:solidFill>
            <a:prstDash val="solid"/>
          </a:ln>
        </p:spPr>
        <p:txBody>
          <a:bodyPr/>
          <a:lstStyle/>
          <a:p>
            <a:endParaRPr lang="en-AU"/>
          </a:p>
        </p:txBody>
      </p:sp>
      <p:sp>
        <p:nvSpPr>
          <p:cNvPr id="6" name="Brand dot"/>
          <p:cNvSpPr/>
          <p:nvPr/>
        </p:nvSpPr>
        <p:spPr>
          <a:xfrm>
            <a:off x="9966960" y="3063240"/>
            <a:ext cx="731520" cy="731520"/>
          </a:xfrm>
          <a:prstGeom prst="ellipse">
            <a:avLst/>
          </a:prstGeom>
          <a:solidFill>
            <a:schemeClr val="accent1"/>
          </a:solidFill>
          <a:ln/>
        </p:spPr>
        <p:txBody>
          <a:bodyPr/>
          <a:lstStyle/>
          <a:p>
            <a:endParaRPr lang="en-AU"/>
          </a:p>
        </p:txBody>
      </p:sp>
      <p:pic>
        <p:nvPicPr>
          <p:cNvPr id="7" name="Kydi logo" descr="C:\Projects\zenith-hackathon\pitch\kydi-logo-white.png"/>
          <p:cNvPicPr>
            <a:picLocks noChangeAspect="1"/>
          </p:cNvPicPr>
          <p:nvPr/>
        </p:nvPicPr>
        <p:blipFill>
          <a:blip r:embed="rId3"/>
          <a:stretch>
            <a:fillRect/>
          </a:stretch>
        </p:blipFill>
        <p:spPr>
          <a:xfrm>
            <a:off x="777240" y="1325880"/>
            <a:ext cx="3017520" cy="1227515"/>
          </a:xfrm>
          <a:prstGeom prst="rect">
            <a:avLst/>
          </a:prstGeom>
        </p:spPr>
      </p:pic>
      <p:sp>
        <p:nvSpPr>
          <p:cNvPr id="8" name="Closing line"/>
          <p:cNvSpPr txBox="1"/>
          <p:nvPr/>
        </p:nvSpPr>
        <p:spPr>
          <a:xfrm>
            <a:off x="822960" y="2880360"/>
            <a:ext cx="6583680" cy="1371600"/>
          </a:xfrm>
          <a:prstGeom prst="rect">
            <a:avLst/>
          </a:prstGeom>
          <a:noFill/>
          <a:ln/>
        </p:spPr>
        <p:txBody>
          <a:bodyPr wrap="square" lIns="0" tIns="0" rIns="0" bIns="0" rtlCol="0" anchor="t"/>
          <a:lstStyle/>
          <a:p>
            <a:pPr marL="0" indent="0">
              <a:buNone/>
            </a:pPr>
            <a:r>
              <a:rPr lang="en-US" sz="4000" dirty="0">
                <a:solidFill>
                  <a:schemeClr val="bg1"/>
                </a:solidFill>
                <a:latin typeface="+mj-lt" pitchFamily="34" charset="0"/>
                <a:ea typeface="+mj-lt" pitchFamily="34" charset="-122"/>
                <a:cs typeface="+mj-lt" pitchFamily="34" charset="-120"/>
              </a:rPr>
              <a:t>Invoicing Australian businesses own</a:t>
            </a:r>
            <a:endParaRPr lang="en-US" sz="4000" dirty="0"/>
          </a:p>
        </p:txBody>
      </p:sp>
      <p:sp>
        <p:nvSpPr>
          <p:cNvPr id="9" name="Links"/>
          <p:cNvSpPr txBox="1"/>
          <p:nvPr/>
        </p:nvSpPr>
        <p:spPr>
          <a:xfrm>
            <a:off x="822960" y="4389120"/>
            <a:ext cx="6858000" cy="822960"/>
          </a:xfrm>
          <a:prstGeom prst="rect">
            <a:avLst/>
          </a:prstGeom>
          <a:noFill/>
          <a:ln/>
        </p:spPr>
        <p:txBody>
          <a:bodyPr wrap="square" lIns="0" tIns="0" rIns="0" bIns="0" rtlCol="0" anchor="t"/>
          <a:lstStyle/>
          <a:p>
            <a:pPr marL="0" indent="0">
              <a:spcAft>
                <a:spcPts val="600"/>
              </a:spcAft>
              <a:buNone/>
            </a:pPr>
            <a:r>
              <a:rPr lang="en-US" sz="1800" dirty="0">
                <a:solidFill>
                  <a:schemeClr val="accent3"/>
                </a:solidFill>
                <a:latin typeface="+mj-lt" pitchFamily="34" charset="0"/>
                <a:ea typeface="+mj-lt" pitchFamily="34" charset="-122"/>
                <a:cs typeface="+mj-lt" pitchFamily="34" charset="-120"/>
              </a:rPr>
              <a:t>github.com/petmav/kydi</a:t>
            </a:r>
            <a:endParaRPr lang="en-US" sz="1800" dirty="0"/>
          </a:p>
          <a:p>
            <a:pPr marL="0" indent="0">
              <a:spcAft>
                <a:spcPts val="600"/>
              </a:spcAft>
              <a:buNone/>
            </a:pPr>
            <a:r>
              <a:rPr lang="en-US" sz="1800" dirty="0">
                <a:solidFill>
                  <a:schemeClr val="bg1"/>
                </a:solidFill>
              </a:rPr>
              <a:t>MIT licence  ·  self-host with Docker  ·  deploy on Zenith</a:t>
            </a:r>
            <a:endParaRPr lang="en-US" sz="1800" dirty="0"/>
          </a:p>
        </p:txBody>
      </p:sp>
      <p:sp>
        <p:nvSpPr>
          <p:cNvPr id="10" name="Event"/>
          <p:cNvSpPr txBox="1"/>
          <p:nvPr/>
        </p:nvSpPr>
        <p:spPr>
          <a:xfrm>
            <a:off x="822960" y="5989320"/>
            <a:ext cx="5486400" cy="320040"/>
          </a:xfrm>
          <a:prstGeom prst="rect">
            <a:avLst/>
          </a:prstGeom>
          <a:noFill/>
          <a:ln/>
        </p:spPr>
        <p:txBody>
          <a:bodyPr wrap="square" lIns="0" tIns="0" rIns="0" bIns="0" rtlCol="0" anchor="t"/>
          <a:lstStyle/>
          <a:p>
            <a:pPr marL="0" indent="0">
              <a:buNone/>
            </a:pPr>
            <a:r>
              <a:rPr lang="en-US" sz="1200" dirty="0">
                <a:solidFill>
                  <a:schemeClr val="accent3"/>
                </a:solidFill>
              </a:rPr>
              <a:t>Zenith Hackathon  ·  October 2026</a:t>
            </a:r>
            <a:endParaRPr lang="en-US" sz="1200" dirty="0"/>
          </a:p>
        </p:txBody>
      </p:sp>
    </p:spTree>
  </p:cSld>
  <p:clrMapOvr>
    <a:masterClrMapping/>
  </p:clrMapOvr>
</p:sld>
</file>

<file path=ppt/theme/theme1.xml><?xml version="1.0" encoding="utf-8"?>
<a:theme xmlns:a="http://schemas.openxmlformats.org/drawingml/2006/main" name="Kydi">
  <a:themeElements>
    <a:clrScheme name="Kydi">
      <a:dk1>
        <a:srgbClr val="0E1A33"/>
      </a:dk1>
      <a:lt1>
        <a:srgbClr val="FFFFFF"/>
      </a:lt1>
      <a:dk2>
        <a:srgbClr val="5B6782"/>
      </a:dk2>
      <a:lt2>
        <a:srgbClr val="F4F7FC"/>
      </a:lt2>
      <a:accent1>
        <a:srgbClr val="026BEF"/>
      </a:accent1>
      <a:accent2>
        <a:srgbClr val="0B1630"/>
      </a:accent2>
      <a:accent3>
        <a:srgbClr val="8DB8FF"/>
      </a:accent3>
      <a:accent4>
        <a:srgbClr val="E3E9F3"/>
      </a:accent4>
      <a:accent5>
        <a:srgbClr val="F2A33A"/>
      </a:accent5>
      <a:accent6>
        <a:srgbClr val="1E3563"/>
      </a:accent6>
      <a:hlink>
        <a:srgbClr val="026BEF"/>
      </a:hlink>
      <a:folHlink>
        <a:srgbClr val="5B6782"/>
      </a:folHlink>
    </a:clrScheme>
    <a:fontScheme name="Kydi">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1281</Words>
  <Application>Microsoft Office PowerPoint</Application>
  <PresentationFormat>Widescreen</PresentationFormat>
  <Paragraphs>154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Segoe UI</vt:lpstr>
      <vt:lpstr>Segoe UI Semibold</vt:lpstr>
      <vt:lpstr>Kydi</vt:lpstr>
      <vt:lpstr>PowerPoint Presentation</vt:lpstr>
      <vt:lpstr>Small businesses wait weeks to get paid</vt:lpstr>
      <vt:lpstr>2.8 million Australian businesses send invoices</vt:lpstr>
      <vt:lpstr>Incumbent software keeps getting dearer</vt:lpstr>
      <vt:lpstr>One app for the whole billing loop</vt:lpstr>
      <vt:lpstr>Built for how Australian businesses invoice</vt:lpstr>
      <vt:lpstr>Built in two days, ready to run today</vt:lpstr>
      <vt:lpstr>E-invoicing and price rises open the door</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Kydi: open-source invoicing for Australian small businesses</dc:title>
  <dc:subject>PptxGenJS Presentation</dc:subject>
  <dc:creator>Kydi team</dc:creator>
  <cp:lastModifiedBy>Peter Mavromichalis</cp:lastModifiedBy>
  <cp:revision>1</cp:revision>
  <dcterms:created xsi:type="dcterms:W3CDTF">2026-10-17T06:32:25Z</dcterms:created>
  <dcterms:modified xsi:type="dcterms:W3CDTF">2026-10-17T06:38:59Z</dcterms:modified>
</cp:coreProperties>
</file>